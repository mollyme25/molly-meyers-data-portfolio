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ora"/>
      <p:regular r:id="rId21"/>
      <p:bold r:id="rId22"/>
      <p:italic r:id="rId23"/>
      <p:boldItalic r:id="rId24"/>
    </p:embeddedFont>
    <p:embeddedFont>
      <p:font typeface="Old Standard TT"/>
      <p:regular r:id="rId25"/>
      <p:bold r:id="rId26"/>
      <p: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Lora-bold.fntdata"/><Relationship Id="rId21" Type="http://schemas.openxmlformats.org/officeDocument/2006/relationships/font" Target="fonts/Lora-regular.fntdata"/><Relationship Id="rId24" Type="http://schemas.openxmlformats.org/officeDocument/2006/relationships/font" Target="fonts/Lora-boldItalic.fntdata"/><Relationship Id="rId23" Type="http://schemas.openxmlformats.org/officeDocument/2006/relationships/font" Target="fonts/Lor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ldStandardTT-bold.fntdata"/><Relationship Id="rId25" Type="http://schemas.openxmlformats.org/officeDocument/2006/relationships/font" Target="fonts/OldStandardTT-regular.fntdata"/><Relationship Id="rId27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94d8a284b_19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c94d8a284b_19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@Dario</a:t>
            </a:r>
            <a:endParaRPr/>
          </a:p>
        </p:txBody>
      </p:sp>
      <p:sp>
        <p:nvSpPr>
          <p:cNvPr id="59" name="Google Shape;59;g3c94d8a284b_19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94d8a284b_19_1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c94d8a284b_19_1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@Dario</a:t>
            </a:r>
            <a:endParaRPr/>
          </a:p>
        </p:txBody>
      </p:sp>
      <p:sp>
        <p:nvSpPr>
          <p:cNvPr id="74" name="Google Shape;74;g3c94d8a284b_19_1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94d8a284b_19_6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94d8a284b_19_6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@Terry</a:t>
            </a:r>
            <a:endParaRPr/>
          </a:p>
        </p:txBody>
      </p:sp>
      <p:sp>
        <p:nvSpPr>
          <p:cNvPr id="126" name="Google Shape;126;g3c94d8a284b_19_6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94d8a284b_19_21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c94d8a284b_19_21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@Terry</a:t>
            </a:r>
            <a:endParaRPr b="1"/>
          </a:p>
        </p:txBody>
      </p:sp>
      <p:sp>
        <p:nvSpPr>
          <p:cNvPr id="183" name="Google Shape;183;g3c94d8a284b_19_21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94d8a284b_19_17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c94d8a284b_19_17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@Molly</a:t>
            </a:r>
            <a:endParaRPr b="1"/>
          </a:p>
        </p:txBody>
      </p:sp>
      <p:sp>
        <p:nvSpPr>
          <p:cNvPr id="230" name="Google Shape;230;g3c94d8a284b_19_17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94d8a284b_19_12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c94d8a284b_19_12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@Molly</a:t>
            </a:r>
            <a:endParaRPr b="1"/>
          </a:p>
        </p:txBody>
      </p:sp>
      <p:sp>
        <p:nvSpPr>
          <p:cNvPr id="263" name="Google Shape;263;g3c94d8a284b_19_12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94d8a284b_19_26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c94d8a284b_19_26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@Yang</a:t>
            </a:r>
            <a:endParaRPr b="1"/>
          </a:p>
        </p:txBody>
      </p:sp>
      <p:sp>
        <p:nvSpPr>
          <p:cNvPr id="312" name="Google Shape;312;g3c94d8a284b_19_26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c94d8a284b_19_33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c94d8a284b_19_33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@Sidney</a:t>
            </a:r>
            <a:endParaRPr b="1"/>
          </a:p>
        </p:txBody>
      </p:sp>
      <p:sp>
        <p:nvSpPr>
          <p:cNvPr id="366" name="Google Shape;366;g3c94d8a284b_19_33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94d8a284b_19_46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c94d8a284b_19_46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c94d8a284b_19_46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94d8a284b_19_3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c94d8a284b_19_39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c94d8a284b_19_39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c94d8a284b_19_5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3c94d8a284b_19_5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c94d8a284b_19_5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4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24.png"/><Relationship Id="rId13" Type="http://schemas.openxmlformats.org/officeDocument/2006/relationships/image" Target="../media/image21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9" Type="http://schemas.openxmlformats.org/officeDocument/2006/relationships/image" Target="../media/image31.png"/><Relationship Id="rId15" Type="http://schemas.openxmlformats.org/officeDocument/2006/relationships/image" Target="../media/image38.png"/><Relationship Id="rId1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9" Type="http://schemas.openxmlformats.org/officeDocument/2006/relationships/image" Target="../media/image42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46.png"/><Relationship Id="rId8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6.png"/><Relationship Id="rId4" Type="http://schemas.openxmlformats.org/officeDocument/2006/relationships/image" Target="../media/image44.png"/><Relationship Id="rId9" Type="http://schemas.openxmlformats.org/officeDocument/2006/relationships/image" Target="../media/image6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Relationship Id="rId8" Type="http://schemas.openxmlformats.org/officeDocument/2006/relationships/image" Target="../media/image58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86.png"/><Relationship Id="rId10" Type="http://schemas.openxmlformats.org/officeDocument/2006/relationships/image" Target="../media/image8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62.png"/><Relationship Id="rId9" Type="http://schemas.openxmlformats.org/officeDocument/2006/relationships/image" Target="../media/image102.png"/><Relationship Id="rId5" Type="http://schemas.openxmlformats.org/officeDocument/2006/relationships/image" Target="../media/image53.png"/><Relationship Id="rId6" Type="http://schemas.openxmlformats.org/officeDocument/2006/relationships/image" Target="../media/image49.png"/><Relationship Id="rId7" Type="http://schemas.openxmlformats.org/officeDocument/2006/relationships/image" Target="../media/image77.png"/><Relationship Id="rId8" Type="http://schemas.openxmlformats.org/officeDocument/2006/relationships/image" Target="../media/image64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png"/><Relationship Id="rId10" Type="http://schemas.openxmlformats.org/officeDocument/2006/relationships/image" Target="../media/image76.png"/><Relationship Id="rId13" Type="http://schemas.openxmlformats.org/officeDocument/2006/relationships/image" Target="../media/image83.png"/><Relationship Id="rId12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8.png"/><Relationship Id="rId9" Type="http://schemas.openxmlformats.org/officeDocument/2006/relationships/image" Target="../media/image70.png"/><Relationship Id="rId5" Type="http://schemas.openxmlformats.org/officeDocument/2006/relationships/image" Target="../media/image82.png"/><Relationship Id="rId6" Type="http://schemas.openxmlformats.org/officeDocument/2006/relationships/image" Target="../media/image67.png"/><Relationship Id="rId7" Type="http://schemas.openxmlformats.org/officeDocument/2006/relationships/image" Target="../media/image80.png"/><Relationship Id="rId8" Type="http://schemas.openxmlformats.org/officeDocument/2006/relationships/image" Target="../media/image65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9.png"/><Relationship Id="rId10" Type="http://schemas.openxmlformats.org/officeDocument/2006/relationships/image" Target="../media/image100.png"/><Relationship Id="rId13" Type="http://schemas.openxmlformats.org/officeDocument/2006/relationships/image" Target="../media/image95.png"/><Relationship Id="rId12" Type="http://schemas.openxmlformats.org/officeDocument/2006/relationships/image" Target="../media/image9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6.png"/><Relationship Id="rId9" Type="http://schemas.openxmlformats.org/officeDocument/2006/relationships/image" Target="../media/image90.png"/><Relationship Id="rId5" Type="http://schemas.openxmlformats.org/officeDocument/2006/relationships/image" Target="../media/image82.png"/><Relationship Id="rId6" Type="http://schemas.openxmlformats.org/officeDocument/2006/relationships/image" Target="../media/image67.png"/><Relationship Id="rId7" Type="http://schemas.openxmlformats.org/officeDocument/2006/relationships/image" Target="../media/image92.png"/><Relationship Id="rId8" Type="http://schemas.openxmlformats.org/officeDocument/2006/relationships/image" Target="../media/image65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8.png"/><Relationship Id="rId10" Type="http://schemas.openxmlformats.org/officeDocument/2006/relationships/image" Target="../media/image108.png"/><Relationship Id="rId13" Type="http://schemas.openxmlformats.org/officeDocument/2006/relationships/image" Target="../media/image128.png"/><Relationship Id="rId12" Type="http://schemas.openxmlformats.org/officeDocument/2006/relationships/image" Target="../media/image10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1.png"/><Relationship Id="rId9" Type="http://schemas.openxmlformats.org/officeDocument/2006/relationships/image" Target="../media/image97.png"/><Relationship Id="rId15" Type="http://schemas.openxmlformats.org/officeDocument/2006/relationships/image" Target="../media/image112.png"/><Relationship Id="rId14" Type="http://schemas.openxmlformats.org/officeDocument/2006/relationships/image" Target="../media/image103.png"/><Relationship Id="rId17" Type="http://schemas.openxmlformats.org/officeDocument/2006/relationships/image" Target="../media/image119.png"/><Relationship Id="rId16" Type="http://schemas.openxmlformats.org/officeDocument/2006/relationships/image" Target="../media/image104.png"/><Relationship Id="rId5" Type="http://schemas.openxmlformats.org/officeDocument/2006/relationships/image" Target="../media/image111.png"/><Relationship Id="rId6" Type="http://schemas.openxmlformats.org/officeDocument/2006/relationships/image" Target="../media/image93.png"/><Relationship Id="rId18" Type="http://schemas.openxmlformats.org/officeDocument/2006/relationships/image" Target="../media/image113.png"/><Relationship Id="rId7" Type="http://schemas.openxmlformats.org/officeDocument/2006/relationships/image" Target="../media/image101.png"/><Relationship Id="rId8" Type="http://schemas.openxmlformats.org/officeDocument/2006/relationships/image" Target="../media/image9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3.png"/><Relationship Id="rId10" Type="http://schemas.openxmlformats.org/officeDocument/2006/relationships/image" Target="../media/image125.png"/><Relationship Id="rId13" Type="http://schemas.openxmlformats.org/officeDocument/2006/relationships/image" Target="../media/image120.png"/><Relationship Id="rId12" Type="http://schemas.openxmlformats.org/officeDocument/2006/relationships/image" Target="../media/image12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09.png"/><Relationship Id="rId9" Type="http://schemas.openxmlformats.org/officeDocument/2006/relationships/image" Target="../media/image127.png"/><Relationship Id="rId5" Type="http://schemas.openxmlformats.org/officeDocument/2006/relationships/image" Target="../media/image110.png"/><Relationship Id="rId6" Type="http://schemas.openxmlformats.org/officeDocument/2006/relationships/image" Target="../media/image123.png"/><Relationship Id="rId7" Type="http://schemas.openxmlformats.org/officeDocument/2006/relationships/image" Target="../media/image130.png"/><Relationship Id="rId8" Type="http://schemas.openxmlformats.org/officeDocument/2006/relationships/image" Target="../media/image117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8.png"/><Relationship Id="rId10" Type="http://schemas.openxmlformats.org/officeDocument/2006/relationships/image" Target="../media/image140.png"/><Relationship Id="rId12" Type="http://schemas.openxmlformats.org/officeDocument/2006/relationships/image" Target="../media/image14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6.png"/><Relationship Id="rId4" Type="http://schemas.openxmlformats.org/officeDocument/2006/relationships/image" Target="../media/image134.png"/><Relationship Id="rId9" Type="http://schemas.openxmlformats.org/officeDocument/2006/relationships/image" Target="../media/image137.png"/><Relationship Id="rId5" Type="http://schemas.openxmlformats.org/officeDocument/2006/relationships/image" Target="../media/image131.png"/><Relationship Id="rId6" Type="http://schemas.openxmlformats.org/officeDocument/2006/relationships/image" Target="../media/image135.png"/><Relationship Id="rId7" Type="http://schemas.openxmlformats.org/officeDocument/2006/relationships/image" Target="../media/image141.png"/><Relationship Id="rId8" Type="http://schemas.openxmlformats.org/officeDocument/2006/relationships/image" Target="../media/image1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2604" y="514350"/>
            <a:ext cx="8572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14604" y="1098652"/>
            <a:ext cx="6558300" cy="1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Montserrat"/>
              <a:buNone/>
            </a:pPr>
            <a:r>
              <a:rPr b="1" i="0" lang="en" sz="32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Optimizing Citi Bike Operations: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EEF"/>
              </a:buClr>
              <a:buSzPts val="3200"/>
              <a:buFont typeface="Montserrat"/>
              <a:buNone/>
            </a:pPr>
            <a:r>
              <a:rPr b="1" i="0" lang="en" sz="3200" u="none" cap="none" strike="noStrike">
                <a:solidFill>
                  <a:srgbClr val="00AEEF"/>
                </a:solidFill>
                <a:latin typeface="Montserrat"/>
                <a:ea typeface="Montserrat"/>
                <a:cs typeface="Montserrat"/>
                <a:sym typeface="Montserrat"/>
              </a:rPr>
              <a:t>The 65-80°F Strategy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714604" y="2590267"/>
            <a:ext cx="35700" cy="600000"/>
          </a:xfrm>
          <a:prstGeom prst="rect">
            <a:avLst/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892912" y="2590267"/>
            <a:ext cx="6326700" cy="600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Lora"/>
              <a:buNone/>
            </a:pPr>
            <a:r>
              <a:rPr b="0" i="0" lang="en" sz="1600" u="none" cap="none" strike="noStrike">
                <a:solidFill>
                  <a:srgbClr val="555555"/>
                </a:solidFill>
                <a:latin typeface="Lora"/>
                <a:ea typeface="Lora"/>
                <a:cs typeface="Lora"/>
                <a:sym typeface="Lora"/>
              </a:rPr>
              <a:t>Strategic Recommendations for Fleet Management &amp; System Balance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14604" y="3618967"/>
            <a:ext cx="65151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EE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00AEEF"/>
                </a:solidFill>
                <a:latin typeface="Montserrat"/>
                <a:ea typeface="Montserrat"/>
                <a:cs typeface="Montserrat"/>
                <a:sym typeface="Montserrat"/>
              </a:rPr>
              <a:t>Group #3 - Data Divas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14604" y="3947465"/>
            <a:ext cx="6229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Team Members:</a:t>
            </a: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Molly Meyers, Isaiah Pihlstrom, Dario Garcia, Sidney Dobbins, Terry Qi, Yang Hu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714604" y="4557827"/>
            <a:ext cx="7715100" cy="6900"/>
          </a:xfrm>
          <a:prstGeom prst="rect">
            <a:avLst/>
          </a:prstGeom>
          <a:solidFill>
            <a:srgbClr val="E0E0E0"/>
          </a:solidFill>
          <a:ln cap="flat" cmpd="sng" w="9525">
            <a:solidFill>
              <a:srgbClr val="E0E0E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714604" y="4708017"/>
            <a:ext cx="16413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561631" y="4708017"/>
            <a:ext cx="10377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February 14,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428625" y="371704"/>
            <a:ext cx="2714400" cy="4443300"/>
          </a:xfrm>
          <a:prstGeom prst="roundRect">
            <a:avLst>
              <a:gd fmla="val 798" name="adj"/>
            </a:avLst>
          </a:prstGeom>
          <a:solidFill>
            <a:srgbClr val="F0F4F8"/>
          </a:solidFill>
          <a:ln>
            <a:noFill/>
          </a:ln>
          <a:effectLst>
            <a:outerShdw blurRad="47625" rotWithShape="0" algn="bl" dir="16200000" dist="28575">
              <a:srgbClr val="000000">
                <a:alpha val="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28625" y="371704"/>
            <a:ext cx="2714400" cy="43200"/>
          </a:xfrm>
          <a:prstGeom prst="roundRect">
            <a:avLst>
              <a:gd fmla="val 50125" name="adj"/>
            </a:avLst>
          </a:prstGeom>
          <a:solidFill>
            <a:srgbClr val="1A1A1A"/>
          </a:solidFill>
          <a:ln cap="flat" cmpd="sng" w="9525">
            <a:solidFill>
              <a:srgbClr val="1A1A1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628879"/>
            <a:ext cx="999897" cy="999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15"/>
          <p:cNvPicPr preferRelativeResize="0"/>
          <p:nvPr/>
        </p:nvPicPr>
        <p:blipFill rotWithShape="1">
          <a:blip r:embed="rId5">
            <a:alphaModFix/>
          </a:blip>
          <a:srcRect b="-60" l="0" r="0" t="-50"/>
          <a:stretch/>
        </p:blipFill>
        <p:spPr>
          <a:xfrm>
            <a:off x="1586255" y="900455"/>
            <a:ext cx="399821" cy="45742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611047" y="1800225"/>
            <a:ext cx="23511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ontserrat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Front Line Operations Manager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00075" y="2268626"/>
            <a:ext cx="2372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Montserrat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Primary Audience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43280" y="2611526"/>
            <a:ext cx="2285700" cy="1743300"/>
          </a:xfrm>
          <a:prstGeom prst="roundRect">
            <a:avLst>
              <a:gd fmla="val 12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43280" y="2611526"/>
            <a:ext cx="28800" cy="1743300"/>
          </a:xfrm>
          <a:prstGeom prst="roundRect">
            <a:avLst>
              <a:gd fmla="val 78064" name="adj"/>
            </a:avLst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730" y="2754859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900455" y="2754859"/>
            <a:ext cx="194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Accountable for daily fleet performance &amp; station reliability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730" y="3140278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900455" y="3140279"/>
            <a:ext cx="194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Manages rebalancing logistics &amp; truck routing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730" y="3526384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900455" y="3526384"/>
            <a:ext cx="194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Coordinates maintenance response teams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730" y="3911804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900455" y="3911804"/>
            <a:ext cx="1943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Ensures bikes are available where riders need them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3429000" y="371704"/>
            <a:ext cx="53727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EE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0AEEF"/>
                </a:solidFill>
                <a:latin typeface="Montserrat"/>
                <a:ea typeface="Montserrat"/>
                <a:cs typeface="Montserrat"/>
                <a:sym typeface="Montserrat"/>
              </a:rPr>
              <a:t>Core Narrative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3429000" y="371704"/>
            <a:ext cx="142500" cy="14400"/>
          </a:xfrm>
          <a:prstGeom prst="rect">
            <a:avLst/>
          </a:prstGeom>
          <a:solidFill>
            <a:srgbClr val="00AEE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3429000" y="578815"/>
            <a:ext cx="28800" cy="7860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3550387" y="578813"/>
            <a:ext cx="5240400" cy="786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Lora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Lora"/>
                <a:ea typeface="Lora"/>
                <a:cs typeface="Lora"/>
                <a:sym typeface="Lora"/>
              </a:rPr>
              <a:t> Operational readiness within the </a:t>
            </a:r>
            <a:r>
              <a:rPr b="1" lang="en" sz="1600">
                <a:solidFill>
                  <a:srgbClr val="0077A3"/>
                </a:solidFill>
                <a:latin typeface="Lora"/>
                <a:ea typeface="Lora"/>
                <a:cs typeface="Lora"/>
                <a:sym typeface="Lora"/>
              </a:rPr>
              <a:t>65° to 80°F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Lora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Lora"/>
                <a:ea typeface="Lora"/>
                <a:cs typeface="Lora"/>
                <a:sym typeface="Lora"/>
              </a:rPr>
              <a:t> temperature range is critical to maintaining system balance and maximizing fleet utilization efficiency.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3429000" y="1573225"/>
            <a:ext cx="53727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EE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0AEEF"/>
                </a:solidFill>
                <a:latin typeface="Montserrat"/>
                <a:ea typeface="Montserrat"/>
                <a:cs typeface="Montserrat"/>
                <a:sym typeface="Montserrat"/>
              </a:rPr>
              <a:t>Why This Matters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3429000" y="1573226"/>
            <a:ext cx="142500" cy="14400"/>
          </a:xfrm>
          <a:prstGeom prst="rect">
            <a:avLst/>
          </a:prstGeom>
          <a:solidFill>
            <a:srgbClr val="00AEE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3429000" y="1780337"/>
            <a:ext cx="2571900" cy="892800"/>
          </a:xfrm>
          <a:prstGeom prst="roundRect">
            <a:avLst>
              <a:gd fmla="val 491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3664916" y="1901723"/>
            <a:ext cx="2300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Peak Ridership Windows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50387" y="1930527"/>
            <a:ext cx="114529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3550387" y="2130095"/>
            <a:ext cx="2386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Ridership consistently peaks in this temp range. Without proactive positioning, stations fail.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6143396" y="1780337"/>
            <a:ext cx="2571900" cy="892800"/>
          </a:xfrm>
          <a:prstGeom prst="roundRect">
            <a:avLst>
              <a:gd fmla="val 491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379312" y="1901723"/>
            <a:ext cx="2300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Station Pressure Points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64783" y="1930527"/>
            <a:ext cx="114529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6264783" y="2130095"/>
            <a:ext cx="2386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High demand causes rapid stockouts (empty stations) or dockouts (full stations), disrupting the network.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3429000" y="2814524"/>
            <a:ext cx="2571900" cy="892800"/>
          </a:xfrm>
          <a:prstGeom prst="roundRect">
            <a:avLst>
              <a:gd fmla="val 491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693033" y="2935910"/>
            <a:ext cx="2272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Rebalancing Logistics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15"/>
          <p:cNvPicPr preferRelativeResize="0"/>
          <p:nvPr/>
        </p:nvPicPr>
        <p:blipFill rotWithShape="1">
          <a:blip r:embed="rId9">
            <a:alphaModFix/>
          </a:blip>
          <a:srcRect b="-181" l="0" r="0" t="-181"/>
          <a:stretch/>
        </p:blipFill>
        <p:spPr>
          <a:xfrm>
            <a:off x="3550387" y="2964713"/>
            <a:ext cx="142646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3550387" y="3164967"/>
            <a:ext cx="238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Reactive emergency redistribution is costly and inefficient compared to planned staging.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143396" y="2814524"/>
            <a:ext cx="2571900" cy="892800"/>
          </a:xfrm>
          <a:prstGeom prst="roundRect">
            <a:avLst>
              <a:gd fmla="val 4916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407429" y="2935910"/>
            <a:ext cx="2272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Maintenance Coordination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15"/>
          <p:cNvPicPr preferRelativeResize="0"/>
          <p:nvPr/>
        </p:nvPicPr>
        <p:blipFill rotWithShape="1">
          <a:blip r:embed="rId10">
            <a:alphaModFix/>
          </a:blip>
          <a:srcRect b="-181" l="0" r="0" t="-181"/>
          <a:stretch/>
        </p:blipFill>
        <p:spPr>
          <a:xfrm>
            <a:off x="6264783" y="2964713"/>
            <a:ext cx="142646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264783" y="3164967"/>
            <a:ext cx="2386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Ensuring fleet health before peak demand days prevents compounding operational failures.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15"/>
          <p:cNvPicPr preferRelativeResize="0"/>
          <p:nvPr/>
        </p:nvPicPr>
        <p:blipFill rotWithShape="1">
          <a:blip r:embed="rId11">
            <a:alphaModFix/>
          </a:blip>
          <a:srcRect b="0" l="0" r="0" t="-10"/>
          <a:stretch/>
        </p:blipFill>
        <p:spPr>
          <a:xfrm>
            <a:off x="3429000" y="3920033"/>
            <a:ext cx="5286147" cy="8887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72299" y="4180637"/>
            <a:ext cx="700201" cy="70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3600450" y="4091483"/>
            <a:ext cx="50295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EEF"/>
              </a:buClr>
              <a:buSzPts val="700"/>
              <a:buFont typeface="Montserrat"/>
              <a:buNone/>
            </a:pPr>
            <a:r>
              <a:rPr b="1" i="0" lang="en" sz="1100" u="none" cap="none" strike="noStrike">
                <a:solidFill>
                  <a:srgbClr val="00AEEF"/>
                </a:solidFill>
                <a:latin typeface="Montserrat"/>
                <a:ea typeface="Montserrat"/>
                <a:cs typeface="Montserrat"/>
                <a:sym typeface="Montserrat"/>
              </a:rPr>
              <a:t>Strategic Call to 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600450" y="4277335"/>
            <a:ext cx="500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When forecasts project 65-80°F: </a:t>
            </a:r>
            <a:r>
              <a:rPr b="1" i="0" lang="en" sz="1000" u="none" cap="none" strike="noStrike">
                <a:solidFill>
                  <a:srgbClr val="00AEEF"/>
                </a:solidFill>
                <a:latin typeface="Montserrat"/>
                <a:ea typeface="Montserrat"/>
                <a:cs typeface="Montserrat"/>
                <a:sym typeface="Montserrat"/>
              </a:rPr>
              <a:t>Pre-position bikes</a:t>
            </a:r>
            <a:r>
              <a:rPr b="0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at high-traffic stations, adjust rebalancing schedules, and monitor net flow imbalances in real time.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0" y="5094809"/>
            <a:ext cx="9143700" cy="13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0" y="5094809"/>
            <a:ext cx="91437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28625" y="5101667"/>
            <a:ext cx="26082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015049" y="5101667"/>
            <a:ext cx="203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Citi Bike Operations Strategy • Group #3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0" y="7654"/>
            <a:ext cx="91437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428625" y="300380"/>
            <a:ext cx="43200" cy="342900"/>
          </a:xfrm>
          <a:prstGeom prst="rect">
            <a:avLst/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86359" y="300380"/>
            <a:ext cx="67578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The Temperature Trigger: Problem, Insight &amp; Impact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28625" y="928574"/>
            <a:ext cx="2343300" cy="3643800"/>
          </a:xfrm>
          <a:prstGeom prst="roundRect">
            <a:avLst>
              <a:gd fmla="val 1071" name="adj"/>
            </a:avLst>
          </a:prstGeom>
          <a:solidFill>
            <a:srgbClr val="FFF5F5"/>
          </a:solidFill>
          <a:ln>
            <a:noFill/>
          </a:ln>
          <a:effectLst>
            <a:outerShdw blurRad="104775" rotWithShape="0" algn="bl" dir="16200000" dist="28575">
              <a:srgbClr val="000000">
                <a:alpha val="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428625" y="928574"/>
            <a:ext cx="2343300" cy="43200"/>
          </a:xfrm>
          <a:prstGeom prst="roundRect">
            <a:avLst>
              <a:gd fmla="val 58072" name="adj"/>
            </a:avLst>
          </a:prstGeom>
          <a:solidFill>
            <a:srgbClr val="E53E3E"/>
          </a:solidFill>
          <a:ln cap="flat" cmpd="sng" w="9525">
            <a:solidFill>
              <a:srgbClr val="E53E3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600075" y="1600658"/>
            <a:ext cx="2000400" cy="14400"/>
          </a:xfrm>
          <a:prstGeom prst="rect">
            <a:avLst/>
          </a:prstGeom>
          <a:solidFill>
            <a:srgbClr val="000000">
              <a:alpha val="1020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600075" y="1143229"/>
            <a:ext cx="342900" cy="342900"/>
          </a:xfrm>
          <a:prstGeom prst="ellipse">
            <a:avLst/>
          </a:prstGeom>
          <a:solidFill>
            <a:srgbClr val="E53E3E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201" y="1243355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1057504" y="1207008"/>
            <a:ext cx="12366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C53030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00075" y="1757705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Current bike staging is optimized for corporate commutes but fails to adapt to weather-driven demand shifts.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805" y="2633549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85800" y="2557349"/>
            <a:ext cx="1971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Demand concentrated in </a:t>
            </a: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corporate hubs</a:t>
            </a: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(Midtown/FiDi)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805" y="3019654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85800" y="2943454"/>
            <a:ext cx="1971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High-potential </a:t>
            </a: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leisure routes</a:t>
            </a: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are underserved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805" y="3405074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685800" y="3328874"/>
            <a:ext cx="1971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Static rebalancing</a:t>
            </a:r>
            <a:r>
              <a:rPr lang="en" sz="8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may not account for</a:t>
            </a: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real-time weather triggers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-80" l="0" r="0" t="-80"/>
          <a:stretch/>
        </p:blipFill>
        <p:spPr>
          <a:xfrm>
            <a:off x="3032608" y="2664333"/>
            <a:ext cx="10698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-80" l="0" r="0" t="-80"/>
          <a:stretch/>
        </p:blipFill>
        <p:spPr>
          <a:xfrm>
            <a:off x="6004179" y="2664333"/>
            <a:ext cx="10698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/>
          <p:nvPr/>
        </p:nvSpPr>
        <p:spPr>
          <a:xfrm>
            <a:off x="6372454" y="928574"/>
            <a:ext cx="2343300" cy="3643800"/>
          </a:xfrm>
          <a:prstGeom prst="roundRect">
            <a:avLst>
              <a:gd fmla="val 1071" name="adj"/>
            </a:avLst>
          </a:prstGeom>
          <a:solidFill>
            <a:srgbClr val="FFFBEB"/>
          </a:solidFill>
          <a:ln>
            <a:noFill/>
          </a:ln>
          <a:effectLst>
            <a:outerShdw blurRad="104775" rotWithShape="0" algn="bl" dir="16200000" dist="28575">
              <a:srgbClr val="000000">
                <a:alpha val="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6372454" y="928574"/>
            <a:ext cx="2343300" cy="43200"/>
          </a:xfrm>
          <a:prstGeom prst="roundRect">
            <a:avLst>
              <a:gd fmla="val 58072" name="adj"/>
            </a:avLst>
          </a:prstGeom>
          <a:solidFill>
            <a:srgbClr val="D69E2E"/>
          </a:solidFill>
          <a:ln cap="flat" cmpd="sng" w="9525">
            <a:solidFill>
              <a:srgbClr val="D69E2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6543904" y="1600658"/>
            <a:ext cx="2000400" cy="14400"/>
          </a:xfrm>
          <a:prstGeom prst="rect">
            <a:avLst/>
          </a:prstGeom>
          <a:solidFill>
            <a:srgbClr val="000000">
              <a:alpha val="1020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6543904" y="1143229"/>
            <a:ext cx="342900" cy="342900"/>
          </a:xfrm>
          <a:prstGeom prst="ellipse">
            <a:avLst/>
          </a:prstGeom>
          <a:solidFill>
            <a:srgbClr val="D69E2E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44030" y="1243355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7000646" y="1207008"/>
            <a:ext cx="10509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B7791F"/>
                </a:solidFill>
                <a:latin typeface="Montserrat"/>
                <a:ea typeface="Montserrat"/>
                <a:cs typeface="Montserrat"/>
                <a:sym typeface="Montserrat"/>
              </a:rPr>
              <a:t>The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6543904" y="1757705"/>
            <a:ext cx="2057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Failing to operationalize this insight leads to compounding system failures during peak revenue periods.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16"/>
          <p:cNvPicPr preferRelativeResize="0"/>
          <p:nvPr/>
        </p:nvPicPr>
        <p:blipFill rotWithShape="1">
          <a:blip r:embed="rId8">
            <a:alphaModFix/>
          </a:blip>
          <a:srcRect b="0" l="-130" r="-140" t="0"/>
          <a:stretch/>
        </p:blipFill>
        <p:spPr>
          <a:xfrm>
            <a:off x="6505634" y="2462099"/>
            <a:ext cx="6446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6607683" y="2385899"/>
            <a:ext cx="1993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Missed revenue from thousands of potential </a:t>
            </a: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casual trips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16"/>
          <p:cNvPicPr preferRelativeResize="0"/>
          <p:nvPr/>
        </p:nvPicPr>
        <p:blipFill rotWithShape="1">
          <a:blip r:embed="rId9">
            <a:alphaModFix/>
          </a:blip>
          <a:srcRect b="0" l="-1910" r="-1910" t="0"/>
          <a:stretch/>
        </p:blipFill>
        <p:spPr>
          <a:xfrm>
            <a:off x="6505634" y="2848204"/>
            <a:ext cx="100127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6644030" y="2772004"/>
            <a:ext cx="1957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Stockouts</a:t>
            </a: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at leisure stations &amp; </a:t>
            </a: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Dockouts</a:t>
            </a: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at hubs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16"/>
          <p:cNvPicPr preferRelativeResize="0"/>
          <p:nvPr/>
        </p:nvPicPr>
        <p:blipFill rotWithShape="1">
          <a:blip r:embed="rId10">
            <a:alphaModFix/>
          </a:blip>
          <a:srcRect b="0" l="-3123" r="-3113" t="0"/>
          <a:stretch/>
        </p:blipFill>
        <p:spPr>
          <a:xfrm>
            <a:off x="6505634" y="3233624"/>
            <a:ext cx="56921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6600825" y="3157424"/>
            <a:ext cx="200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Increased </a:t>
            </a: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emergency rebalancing costs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16"/>
          <p:cNvPicPr preferRelativeResize="0"/>
          <p:nvPr/>
        </p:nvPicPr>
        <p:blipFill rotWithShape="1">
          <a:blip r:embed="rId11">
            <a:alphaModFix/>
          </a:blip>
          <a:srcRect b="-80" l="0" r="0" t="-80"/>
          <a:stretch/>
        </p:blipFill>
        <p:spPr>
          <a:xfrm>
            <a:off x="6505634" y="3619729"/>
            <a:ext cx="10698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6650888" y="3543529"/>
            <a:ext cx="195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System instability erodes customer trust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0" y="4857521"/>
            <a:ext cx="91437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0" y="4857521"/>
            <a:ext cx="91437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28625" y="4939817"/>
            <a:ext cx="1863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7015049" y="4939817"/>
            <a:ext cx="203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Citi Bike Operations Strategy • Group #3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76880" y="892226"/>
            <a:ext cx="2390012" cy="371635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/>
          <p:nvPr/>
        </p:nvSpPr>
        <p:spPr>
          <a:xfrm>
            <a:off x="3551759" y="1582141"/>
            <a:ext cx="2043000" cy="14400"/>
          </a:xfrm>
          <a:prstGeom prst="rect">
            <a:avLst/>
          </a:prstGeom>
          <a:solidFill>
            <a:srgbClr val="000000">
              <a:alpha val="1020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3551759" y="1110996"/>
            <a:ext cx="349800" cy="349800"/>
          </a:xfrm>
          <a:prstGeom prst="ellipse">
            <a:avLst/>
          </a:prstGeom>
          <a:solidFill>
            <a:srgbClr val="00AEE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16"/>
          <p:cNvPicPr preferRelativeResize="0"/>
          <p:nvPr/>
        </p:nvPicPr>
        <p:blipFill rotWithShape="1">
          <a:blip r:embed="rId13">
            <a:alphaModFix/>
          </a:blip>
          <a:srcRect b="0" l="-834" r="-844" t="0"/>
          <a:stretch/>
        </p:blipFill>
        <p:spPr>
          <a:xfrm>
            <a:off x="3671774" y="1213181"/>
            <a:ext cx="114529" cy="15019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4018103" y="1176147"/>
            <a:ext cx="1114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A3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Key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3551759" y="1737818"/>
            <a:ext cx="21006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Rider behavior and trip volume shift dramatically when temperatures hit a specific optimal window.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3551759" y="2419427"/>
            <a:ext cx="2043000" cy="729000"/>
          </a:xfrm>
          <a:prstGeom prst="roundRect">
            <a:avLst>
              <a:gd fmla="val 7378" name="adj"/>
            </a:avLst>
          </a:prstGeom>
          <a:solidFill>
            <a:srgbClr val="FFFFFF"/>
          </a:solidFill>
          <a:ln cap="flat" cmpd="sng" w="19050">
            <a:solidFill>
              <a:srgbClr val="00AE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16200000" dist="28575">
              <a:srgbClr val="00AEEF">
                <a:alpha val="102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3612109" y="2550414"/>
            <a:ext cx="19215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EEF"/>
              </a:buClr>
              <a:buSzPts val="2300"/>
              <a:buFont typeface="Montserrat"/>
              <a:buNone/>
            </a:pPr>
            <a:r>
              <a:rPr b="1" i="0" lang="en" sz="2300" u="none" cap="none" strike="noStrike">
                <a:solidFill>
                  <a:srgbClr val="00AEEF"/>
                </a:solidFill>
                <a:latin typeface="Montserrat"/>
                <a:ea typeface="Montserrat"/>
                <a:cs typeface="Montserrat"/>
                <a:sym typeface="Montserrat"/>
              </a:rPr>
              <a:t>65° – 80°F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3647771" y="2885771"/>
            <a:ext cx="18504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The Critical Trigger Zone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498521" y="3417072"/>
            <a:ext cx="92583" cy="9258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3639541" y="3340532"/>
            <a:ext cx="22020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Significant surge in </a:t>
            </a: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casual ridership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6"/>
          <p:cNvPicPr preferRelativeResize="0"/>
          <p:nvPr/>
        </p:nvPicPr>
        <p:blipFill rotWithShape="1">
          <a:blip r:embed="rId15">
            <a:alphaModFix/>
          </a:blip>
          <a:srcRect b="0" l="-1356" r="-1356" t="0"/>
          <a:stretch/>
        </p:blipFill>
        <p:spPr>
          <a:xfrm>
            <a:off x="3498521" y="3657788"/>
            <a:ext cx="106985" cy="925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3653942" y="3581248"/>
            <a:ext cx="2000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Geographic shift from business districts to </a:t>
            </a: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parks &amp; waterfronts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/>
          <p:nvPr/>
        </p:nvSpPr>
        <p:spPr>
          <a:xfrm>
            <a:off x="428625" y="257175"/>
            <a:ext cx="43200" cy="342900"/>
          </a:xfrm>
          <a:prstGeom prst="rect">
            <a:avLst/>
          </a:prstGeom>
          <a:solidFill>
            <a:srgbClr val="E53E3E"/>
          </a:solidFill>
          <a:ln cap="flat" cmpd="sng" w="9525">
            <a:solidFill>
              <a:srgbClr val="E53E3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586359" y="257175"/>
            <a:ext cx="59217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System Pain Points &amp; Operational Challenges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428625" y="892912"/>
            <a:ext cx="6486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Lora"/>
              <a:buNone/>
            </a:pPr>
            <a:r>
              <a:rPr b="0" i="0" lang="en" sz="1000" u="none" cap="none" strike="noStrike">
                <a:solidFill>
                  <a:srgbClr val="555555"/>
                </a:solidFill>
                <a:latin typeface="Lora"/>
                <a:ea typeface="Lora"/>
                <a:cs typeface="Lora"/>
                <a:sym typeface="Lora"/>
              </a:rPr>
              <a:t>Without weather-adaptive strategies, the network faces compounding operational failures during critical revenue windows.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276149" y="1492987"/>
            <a:ext cx="2650800" cy="3000300"/>
          </a:xfrm>
          <a:prstGeom prst="roundRect">
            <a:avLst>
              <a:gd fmla="val 837" name="adj"/>
            </a:avLst>
          </a:prstGeom>
          <a:solidFill>
            <a:srgbClr val="FFFFFF"/>
          </a:solidFill>
          <a:ln>
            <a:noFill/>
          </a:ln>
          <a:effectLst>
            <a:outerShdw blurRad="104775" rotWithShape="0" algn="bl" dir="16200000" dist="28575">
              <a:srgbClr val="000000">
                <a:alpha val="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276149" y="1492987"/>
            <a:ext cx="2650800" cy="43200"/>
          </a:xfrm>
          <a:prstGeom prst="roundRect">
            <a:avLst>
              <a:gd fmla="val 51341" name="adj"/>
            </a:avLst>
          </a:prstGeom>
          <a:solidFill>
            <a:srgbClr val="E53E3E"/>
          </a:solidFill>
          <a:ln cap="flat" cmpd="sng" w="9525">
            <a:solidFill>
              <a:srgbClr val="E53E3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17"/>
          <p:cNvPicPr preferRelativeResize="0"/>
          <p:nvPr/>
        </p:nvPicPr>
        <p:blipFill rotWithShape="1">
          <a:blip r:embed="rId4">
            <a:alphaModFix amt="60000"/>
          </a:blip>
          <a:srcRect b="-2665" l="0" r="0" t="-2654"/>
          <a:stretch/>
        </p:blipFill>
        <p:spPr>
          <a:xfrm>
            <a:off x="1723873" y="3378937"/>
            <a:ext cx="1342797" cy="125707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/>
          <p:nvPr/>
        </p:nvSpPr>
        <p:spPr>
          <a:xfrm>
            <a:off x="6204365" y="1492987"/>
            <a:ext cx="2650800" cy="3000300"/>
          </a:xfrm>
          <a:prstGeom prst="roundRect">
            <a:avLst>
              <a:gd fmla="val 837" name="adj"/>
            </a:avLst>
          </a:prstGeom>
          <a:solidFill>
            <a:srgbClr val="FFFFFF"/>
          </a:solidFill>
          <a:ln>
            <a:noFill/>
          </a:ln>
          <a:effectLst>
            <a:outerShdw blurRad="104775" rotWithShape="0" algn="bl" dir="16200000" dist="28575">
              <a:srgbClr val="000000">
                <a:alpha val="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6204365" y="1492987"/>
            <a:ext cx="2650800" cy="43200"/>
          </a:xfrm>
          <a:prstGeom prst="roundRect">
            <a:avLst>
              <a:gd fmla="val 51341" name="adj"/>
            </a:avLst>
          </a:prstGeom>
          <a:solidFill>
            <a:srgbClr val="E53E3E"/>
          </a:solidFill>
          <a:ln cap="flat" cmpd="sng" w="9525">
            <a:solidFill>
              <a:srgbClr val="E53E3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17"/>
          <p:cNvPicPr preferRelativeResize="0"/>
          <p:nvPr/>
        </p:nvPicPr>
        <p:blipFill rotWithShape="1">
          <a:blip r:embed="rId5">
            <a:alphaModFix amt="60000"/>
          </a:blip>
          <a:srcRect b="-2665" l="0" r="0" t="-2654"/>
          <a:stretch/>
        </p:blipFill>
        <p:spPr>
          <a:xfrm>
            <a:off x="7652088" y="3378937"/>
            <a:ext cx="1342797" cy="125707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/>
          <p:nvPr/>
        </p:nvSpPr>
        <p:spPr>
          <a:xfrm>
            <a:off x="0" y="4857521"/>
            <a:ext cx="91437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0" y="4857521"/>
            <a:ext cx="91437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428625" y="4939817"/>
            <a:ext cx="24402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7015049" y="4939817"/>
            <a:ext cx="203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Citi Bike Operations Strategy • Group #3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490805" y="1750162"/>
            <a:ext cx="428700" cy="428700"/>
          </a:xfrm>
          <a:prstGeom prst="ellipse">
            <a:avLst/>
          </a:prstGeom>
          <a:solidFill>
            <a:srgbClr val="FFF5F5"/>
          </a:solidFill>
          <a:ln cap="flat" cmpd="sng" w="19050">
            <a:solidFill>
              <a:srgbClr val="FED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17"/>
          <p:cNvPicPr preferRelativeResize="0"/>
          <p:nvPr/>
        </p:nvPicPr>
        <p:blipFill rotWithShape="1">
          <a:blip r:embed="rId6">
            <a:alphaModFix/>
          </a:blip>
          <a:srcRect b="0" l="-689" r="-679" t="0"/>
          <a:stretch/>
        </p:blipFill>
        <p:spPr>
          <a:xfrm>
            <a:off x="590246" y="1864690"/>
            <a:ext cx="228371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490805" y="2321433"/>
            <a:ext cx="22791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i="0" lang="en" sz="11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. Geographic Supply/Demand Mismatch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913" y="2876211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576529" y="2807666"/>
            <a:ext cx="2193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Current staging strategy is static and focused heavily on </a:t>
            </a:r>
            <a:r>
              <a:rPr b="1" lang="en" sz="80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Midtown</a:t>
            </a: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Manhattan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913" y="3261630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576529" y="3193085"/>
            <a:ext cx="21933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Warm weather (65-80°F) shifts demand rapidly to </a:t>
            </a: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underserved recreational routes</a:t>
            </a:r>
            <a:r>
              <a:rPr lang="en" sz="80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near</a:t>
            </a:r>
            <a:endParaRPr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490805" y="3729380"/>
            <a:ext cx="2222100" cy="571200"/>
          </a:xfrm>
          <a:prstGeom prst="roundRect">
            <a:avLst>
              <a:gd fmla="val 9004" name="adj"/>
            </a:avLst>
          </a:prstGeom>
          <a:solidFill>
            <a:srgbClr val="FFF5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490805" y="3729380"/>
            <a:ext cx="21300" cy="571200"/>
          </a:xfrm>
          <a:prstGeom prst="roundRect">
            <a:avLst>
              <a:gd fmla="val 241939" name="adj"/>
            </a:avLst>
          </a:prstGeom>
          <a:solidFill>
            <a:srgbClr val="E53E3E"/>
          </a:solidFill>
          <a:ln cap="flat" cmpd="sng" w="9525">
            <a:solidFill>
              <a:srgbClr val="E53E3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583388" y="3800704"/>
            <a:ext cx="21396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C53030"/>
                </a:solidFill>
                <a:latin typeface="Montserrat"/>
                <a:ea typeface="Montserrat"/>
                <a:cs typeface="Montserrat"/>
                <a:sym typeface="Montserrat"/>
              </a:rPr>
              <a:t>Operational Gap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735788" y="3946779"/>
            <a:ext cx="211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Fleet trapped in business districts while demand surges in parks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6419020" y="1750162"/>
            <a:ext cx="428700" cy="428700"/>
          </a:xfrm>
          <a:prstGeom prst="ellipse">
            <a:avLst/>
          </a:prstGeom>
          <a:solidFill>
            <a:srgbClr val="FFF5F5"/>
          </a:solidFill>
          <a:ln cap="flat" cmpd="sng" w="19050">
            <a:solidFill>
              <a:srgbClr val="FED7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17"/>
          <p:cNvPicPr preferRelativeResize="0"/>
          <p:nvPr/>
        </p:nvPicPr>
        <p:blipFill rotWithShape="1">
          <a:blip r:embed="rId8">
            <a:alphaModFix/>
          </a:blip>
          <a:srcRect b="0" l="-689" r="-679" t="0"/>
          <a:stretch/>
        </p:blipFill>
        <p:spPr>
          <a:xfrm>
            <a:off x="6519146" y="1864690"/>
            <a:ext cx="228371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6419020" y="2321433"/>
            <a:ext cx="22791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" sz="11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. High Cost of Reactive Rebalancing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5782" y="286855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6504745" y="2807666"/>
            <a:ext cx="2193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Reliance on </a:t>
            </a: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emergency redistributions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when stations hit critical levels.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5782" y="3253976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 txBox="1"/>
          <p:nvPr/>
        </p:nvSpPr>
        <p:spPr>
          <a:xfrm>
            <a:off x="6504745" y="3193085"/>
            <a:ext cx="2193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Inefficient crew deployment due to lack of weather-based forecasting triggers.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6419020" y="3710864"/>
            <a:ext cx="2222100" cy="571200"/>
          </a:xfrm>
          <a:prstGeom prst="roundRect">
            <a:avLst>
              <a:gd fmla="val 9004" name="adj"/>
            </a:avLst>
          </a:prstGeom>
          <a:solidFill>
            <a:srgbClr val="FFF5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6281928" y="3710864"/>
            <a:ext cx="21300" cy="571200"/>
          </a:xfrm>
          <a:prstGeom prst="roundRect">
            <a:avLst>
              <a:gd fmla="val 241939" name="adj"/>
            </a:avLst>
          </a:prstGeom>
          <a:solidFill>
            <a:srgbClr val="E53E3E"/>
          </a:solidFill>
          <a:ln cap="flat" cmpd="sng" w="9525">
            <a:solidFill>
              <a:srgbClr val="E53E3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511603" y="3782873"/>
            <a:ext cx="21396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C53030"/>
                </a:solidFill>
                <a:latin typeface="Montserrat"/>
                <a:ea typeface="Montserrat"/>
                <a:cs typeface="Montserrat"/>
                <a:sym typeface="Montserrat"/>
              </a:rPr>
              <a:t>Financial Impact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6511603" y="3928949"/>
            <a:ext cx="211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Increased labor hours &amp; fuel costs per rebalanced bike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7"/>
          <p:cNvPicPr preferRelativeResize="0"/>
          <p:nvPr/>
        </p:nvPicPr>
        <p:blipFill rotWithShape="1">
          <a:blip r:embed="rId9">
            <a:alphaModFix/>
          </a:blip>
          <a:srcRect b="0" l="8180" r="6079" t="0"/>
          <a:stretch/>
        </p:blipFill>
        <p:spPr>
          <a:xfrm>
            <a:off x="3074499" y="1571825"/>
            <a:ext cx="1454250" cy="28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/>
          <p:cNvPicPr preferRelativeResize="0"/>
          <p:nvPr/>
        </p:nvPicPr>
        <p:blipFill rotWithShape="1">
          <a:blip r:embed="rId10">
            <a:alphaModFix/>
          </a:blip>
          <a:srcRect b="0" l="12193" r="9092" t="0"/>
          <a:stretch/>
        </p:blipFill>
        <p:spPr>
          <a:xfrm>
            <a:off x="4593025" y="1571825"/>
            <a:ext cx="1454250" cy="282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/>
          <p:nvPr/>
        </p:nvSpPr>
        <p:spPr>
          <a:xfrm>
            <a:off x="3066675" y="1492970"/>
            <a:ext cx="2985000" cy="43200"/>
          </a:xfrm>
          <a:prstGeom prst="roundRect">
            <a:avLst>
              <a:gd fmla="val 51341" name="adj"/>
            </a:avLst>
          </a:prstGeom>
          <a:solidFill>
            <a:srgbClr val="E53E3E"/>
          </a:solidFill>
          <a:ln cap="flat" cmpd="sng" w="9525">
            <a:solidFill>
              <a:srgbClr val="E53E3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2858775" y="4440050"/>
            <a:ext cx="34008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lang="en" sz="75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Top 20 stations by rides in peak (left) and non-peak (right) weather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3130500" y="3061600"/>
            <a:ext cx="428700" cy="1079100"/>
          </a:xfrm>
          <a:prstGeom prst="rect">
            <a:avLst/>
          </a:prstGeom>
          <a:noFill/>
          <a:ln cap="flat" cmpd="sng" w="1905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4010700" y="1821575"/>
            <a:ext cx="363900" cy="428700"/>
          </a:xfrm>
          <a:prstGeom prst="rect">
            <a:avLst/>
          </a:prstGeom>
          <a:noFill/>
          <a:ln cap="flat" cmpd="sng" w="19050">
            <a:solidFill>
              <a:srgbClr val="E53E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0" y="643280"/>
            <a:ext cx="9143700" cy="421500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pic>
        <p:nvPicPr>
          <p:cNvPr descr="preencoded.png" id="235" name="Google Shape;2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608" y="785848"/>
            <a:ext cx="1428521" cy="28597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/>
          <p:nvPr/>
        </p:nvSpPr>
        <p:spPr>
          <a:xfrm>
            <a:off x="392270" y="785876"/>
            <a:ext cx="1429200" cy="285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Citi Bike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5668823" y="1859890"/>
            <a:ext cx="28644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5668823" y="3322016"/>
            <a:ext cx="28644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18"/>
          <p:cNvPicPr preferRelativeResize="0"/>
          <p:nvPr/>
        </p:nvPicPr>
        <p:blipFill rotWithShape="1">
          <a:blip r:embed="rId4">
            <a:alphaModFix/>
          </a:blip>
          <a:srcRect b="-10" l="0" r="0" t="0"/>
          <a:stretch/>
        </p:blipFill>
        <p:spPr>
          <a:xfrm>
            <a:off x="178296" y="1214552"/>
            <a:ext cx="1857147" cy="97863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 txBox="1"/>
          <p:nvPr/>
        </p:nvSpPr>
        <p:spPr>
          <a:xfrm>
            <a:off x="421070" y="1329080"/>
            <a:ext cx="15642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A3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 Geographic Demand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18"/>
          <p:cNvPicPr preferRelativeResize="0"/>
          <p:nvPr/>
        </p:nvPicPr>
        <p:blipFill rotWithShape="1">
          <a:blip r:embed="rId5">
            <a:alphaModFix/>
          </a:blip>
          <a:srcRect b="0" l="-3891" r="-3891" t="0"/>
          <a:stretch/>
        </p:blipFill>
        <p:spPr>
          <a:xfrm>
            <a:off x="328487" y="1346911"/>
            <a:ext cx="92583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 txBox="1"/>
          <p:nvPr/>
        </p:nvSpPr>
        <p:spPr>
          <a:xfrm>
            <a:off x="328487" y="1521790"/>
            <a:ext cx="16509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Top 25 stations are heavily concentrated in </a:t>
            </a:r>
            <a:r>
              <a:rPr b="1" lang="en" sz="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Lower</a:t>
            </a:r>
            <a:r>
              <a:rPr b="1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 Manhattan</a:t>
            </a:r>
            <a:r>
              <a:rPr b="0" i="0" lang="en" sz="7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corporate hubs, driving morning/evening peaks. 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18"/>
          <p:cNvPicPr preferRelativeResize="0"/>
          <p:nvPr/>
        </p:nvPicPr>
        <p:blipFill rotWithShape="1">
          <a:blip r:embed="rId4">
            <a:alphaModFix/>
          </a:blip>
          <a:srcRect b="-10" l="0" r="0" t="0"/>
          <a:stretch/>
        </p:blipFill>
        <p:spPr>
          <a:xfrm>
            <a:off x="178296" y="3192580"/>
            <a:ext cx="1857147" cy="97863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 txBox="1"/>
          <p:nvPr/>
        </p:nvSpPr>
        <p:spPr>
          <a:xfrm>
            <a:off x="449874" y="3278810"/>
            <a:ext cx="15354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A3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 Opportunity Zones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8"/>
          <p:cNvPicPr preferRelativeResize="0"/>
          <p:nvPr/>
        </p:nvPicPr>
        <p:blipFill rotWithShape="1">
          <a:blip r:embed="rId6">
            <a:alphaModFix/>
          </a:blip>
          <a:srcRect b="0" l="-2989" r="-2999" t="0"/>
          <a:stretch/>
        </p:blipFill>
        <p:spPr>
          <a:xfrm>
            <a:off x="328487" y="3296641"/>
            <a:ext cx="121387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/>
        </p:nvSpPr>
        <p:spPr>
          <a:xfrm>
            <a:off x="328487" y="3472205"/>
            <a:ext cx="16509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 second shortage window in the afternoon, as </a:t>
            </a:r>
            <a:r>
              <a:rPr b="1" lang="en" sz="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casual and leisure trips increase</a:t>
            </a:r>
            <a:r>
              <a:rPr lang="en" sz="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 beyond the morning commute peak.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18"/>
          <p:cNvPicPr preferRelativeResize="0"/>
          <p:nvPr/>
        </p:nvPicPr>
        <p:blipFill rotWithShape="1">
          <a:blip r:embed="rId7">
            <a:alphaModFix/>
          </a:blip>
          <a:srcRect b="-10" l="0" r="0" t="-10"/>
          <a:stretch/>
        </p:blipFill>
        <p:spPr>
          <a:xfrm>
            <a:off x="178304" y="2259377"/>
            <a:ext cx="1857147" cy="83942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 txBox="1"/>
          <p:nvPr/>
        </p:nvSpPr>
        <p:spPr>
          <a:xfrm>
            <a:off x="477999" y="2373905"/>
            <a:ext cx="15066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A3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 User Mix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18"/>
          <p:cNvPicPr preferRelativeResize="0"/>
          <p:nvPr/>
        </p:nvPicPr>
        <p:blipFill rotWithShape="1">
          <a:blip r:embed="rId8">
            <a:alphaModFix/>
          </a:blip>
          <a:srcRect b="0" l="-2455" r="-2455" t="0"/>
          <a:stretch/>
        </p:blipFill>
        <p:spPr>
          <a:xfrm>
            <a:off x="327808" y="2391737"/>
            <a:ext cx="150191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8"/>
          <p:cNvSpPr txBox="1"/>
          <p:nvPr/>
        </p:nvSpPr>
        <p:spPr>
          <a:xfrm>
            <a:off x="327808" y="2566616"/>
            <a:ext cx="1650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Core base is strong: </a:t>
            </a:r>
            <a:r>
              <a:rPr b="1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80% Subscribers</a:t>
            </a:r>
            <a:r>
              <a:rPr b="0" i="0" lang="en" sz="7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(Commuters) vs. </a:t>
            </a:r>
            <a:r>
              <a:rPr b="1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20% C</a:t>
            </a:r>
            <a:r>
              <a:rPr b="1" lang="en" sz="7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ustomers </a:t>
            </a:r>
            <a:r>
              <a:rPr b="0" i="0" lang="en" sz="7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(Tourists/Leisure). 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8"/>
          <p:cNvSpPr/>
          <p:nvPr/>
        </p:nvSpPr>
        <p:spPr>
          <a:xfrm>
            <a:off x="0" y="85725"/>
            <a:ext cx="9143700" cy="55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428625" y="228371"/>
            <a:ext cx="43200" cy="342900"/>
          </a:xfrm>
          <a:prstGeom prst="rect">
            <a:avLst/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586359" y="228371"/>
            <a:ext cx="48891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Dashboard: System Overview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0" y="4857521"/>
            <a:ext cx="91437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0" y="4857521"/>
            <a:ext cx="91437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428625" y="4939817"/>
            <a:ext cx="281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7015049" y="4939817"/>
            <a:ext cx="203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Citi Bike Operations Strategy • Group #3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12150" y="780160"/>
            <a:ext cx="7031849" cy="391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9"/>
          <p:cNvSpPr/>
          <p:nvPr/>
        </p:nvSpPr>
        <p:spPr>
          <a:xfrm>
            <a:off x="428625" y="257175"/>
            <a:ext cx="43200" cy="342900"/>
          </a:xfrm>
          <a:prstGeom prst="rect">
            <a:avLst/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586359" y="257175"/>
            <a:ext cx="55722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Data-Driven Insights: Temperature Impact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428625" y="814730"/>
            <a:ext cx="3600600" cy="1350300"/>
          </a:xfrm>
          <a:prstGeom prst="roundRect">
            <a:avLst>
              <a:gd fmla="val 2150" name="adj"/>
            </a:avLst>
          </a:prstGeom>
          <a:solidFill>
            <a:srgbClr val="F9FBFD"/>
          </a:solidFill>
          <a:ln>
            <a:noFill/>
          </a:ln>
          <a:effectLst>
            <a:outerShdw blurRad="38100" rotWithShape="0" algn="bl" dir="16200000" dist="19050">
              <a:srgbClr val="000000">
                <a:alpha val="31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428625" y="814730"/>
            <a:ext cx="28800" cy="1350300"/>
          </a:xfrm>
          <a:prstGeom prst="roundRect">
            <a:avLst>
              <a:gd fmla="val 100781" name="adj"/>
            </a:avLst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9"/>
          <p:cNvPicPr preferRelativeResize="0"/>
          <p:nvPr/>
        </p:nvPicPr>
        <p:blipFill rotWithShape="1">
          <a:blip r:embed="rId4">
            <a:alphaModFix/>
          </a:blip>
          <a:srcRect b="0" l="-3191" r="-3191" t="0"/>
          <a:stretch/>
        </p:blipFill>
        <p:spPr>
          <a:xfrm>
            <a:off x="571271" y="949833"/>
            <a:ext cx="85725" cy="12893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9"/>
          <p:cNvSpPr txBox="1"/>
          <p:nvPr/>
        </p:nvSpPr>
        <p:spPr>
          <a:xfrm>
            <a:off x="656996" y="928574"/>
            <a:ext cx="2043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A3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Ridership vs. Temperature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71" y="1185749"/>
            <a:ext cx="71323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 txBox="1"/>
          <p:nvPr/>
        </p:nvSpPr>
        <p:spPr>
          <a:xfrm>
            <a:off x="643280" y="1185749"/>
            <a:ext cx="3329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Utilization rates spike significantly when temperatures enter the </a:t>
            </a: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65–80°F optimal window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71" y="1543050"/>
            <a:ext cx="71323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9"/>
          <p:cNvSpPr txBox="1"/>
          <p:nvPr/>
        </p:nvSpPr>
        <p:spPr>
          <a:xfrm>
            <a:off x="643280" y="1543050"/>
            <a:ext cx="3329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72°F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identified as the peak popularity temperature for casual riders (customers).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8" name="Google Shape;2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71" y="1900352"/>
            <a:ext cx="71323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9"/>
          <p:cNvSpPr txBox="1"/>
          <p:nvPr/>
        </p:nvSpPr>
        <p:spPr>
          <a:xfrm>
            <a:off x="643280" y="1900352"/>
            <a:ext cx="33474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Outside this window, casual ridership drops by over </a:t>
            </a: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40%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428625" y="2335835"/>
            <a:ext cx="3600600" cy="1500600"/>
          </a:xfrm>
          <a:prstGeom prst="roundRect">
            <a:avLst>
              <a:gd fmla="val 1741" name="adj"/>
            </a:avLst>
          </a:prstGeom>
          <a:solidFill>
            <a:srgbClr val="F9FBFD"/>
          </a:solidFill>
          <a:ln>
            <a:noFill/>
          </a:ln>
          <a:effectLst>
            <a:outerShdw blurRad="38100" rotWithShape="0" algn="bl" dir="16200000" dist="19050">
              <a:srgbClr val="000000">
                <a:alpha val="31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428625" y="2335835"/>
            <a:ext cx="28800" cy="1500600"/>
          </a:xfrm>
          <a:prstGeom prst="roundRect">
            <a:avLst>
              <a:gd fmla="val 90702" name="adj"/>
            </a:avLst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9"/>
          <p:cNvPicPr preferRelativeResize="0"/>
          <p:nvPr/>
        </p:nvPicPr>
        <p:blipFill rotWithShape="1">
          <a:blip r:embed="rId6">
            <a:alphaModFix/>
          </a:blip>
          <a:srcRect b="0" l="-1062" r="-1062" t="0"/>
          <a:stretch/>
        </p:blipFill>
        <p:spPr>
          <a:xfrm>
            <a:off x="571271" y="2471624"/>
            <a:ext cx="164592" cy="12893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9"/>
          <p:cNvSpPr txBox="1"/>
          <p:nvPr/>
        </p:nvSpPr>
        <p:spPr>
          <a:xfrm>
            <a:off x="735863" y="2450363"/>
            <a:ext cx="1694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A3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Rider Behavior Shifts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71" y="2707538"/>
            <a:ext cx="71323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 txBox="1"/>
          <p:nvPr/>
        </p:nvSpPr>
        <p:spPr>
          <a:xfrm>
            <a:off x="643280" y="2707538"/>
            <a:ext cx="3329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Longer Trips: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Average duration increases by 15-20% in warm weather (leisure riding).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6" name="Google Shape;2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71" y="3064841"/>
            <a:ext cx="71323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9"/>
          <p:cNvSpPr txBox="1"/>
          <p:nvPr/>
        </p:nvSpPr>
        <p:spPr>
          <a:xfrm>
            <a:off x="643280" y="3064841"/>
            <a:ext cx="3329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Younger Demographic: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Under-30 riders become more prevalent during optimal days.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71" y="3422142"/>
            <a:ext cx="71323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 txBox="1"/>
          <p:nvPr/>
        </p:nvSpPr>
        <p:spPr>
          <a:xfrm>
            <a:off x="643280" y="3422142"/>
            <a:ext cx="3329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Route Shift: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Traffic moves from crosstown commutes to parks and waterfront loops.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428625" y="4007816"/>
            <a:ext cx="3600600" cy="993300"/>
          </a:xfrm>
          <a:prstGeom prst="roundRect">
            <a:avLst>
              <a:gd fmla="val 3975" name="adj"/>
            </a:avLst>
          </a:prstGeom>
          <a:solidFill>
            <a:srgbClr val="F9FBFD"/>
          </a:solidFill>
          <a:ln>
            <a:noFill/>
          </a:ln>
          <a:effectLst>
            <a:outerShdw blurRad="38100" rotWithShape="0" algn="bl" dir="16200000" dist="19050">
              <a:srgbClr val="000000">
                <a:alpha val="31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428625" y="4007816"/>
            <a:ext cx="28800" cy="993300"/>
          </a:xfrm>
          <a:prstGeom prst="roundRect">
            <a:avLst>
              <a:gd fmla="val 137033" name="adj"/>
            </a:avLst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19"/>
          <p:cNvPicPr preferRelativeResize="0"/>
          <p:nvPr/>
        </p:nvPicPr>
        <p:blipFill rotWithShape="1">
          <a:blip r:embed="rId7">
            <a:alphaModFix/>
          </a:blip>
          <a:srcRect b="0" l="-2665" r="-2654" t="0"/>
          <a:stretch/>
        </p:blipFill>
        <p:spPr>
          <a:xfrm>
            <a:off x="571271" y="4143604"/>
            <a:ext cx="135788" cy="12893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9"/>
          <p:cNvSpPr txBox="1"/>
          <p:nvPr/>
        </p:nvSpPr>
        <p:spPr>
          <a:xfrm>
            <a:off x="707060" y="4121658"/>
            <a:ext cx="1501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A3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b="1" lang="en" sz="900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ime</a:t>
            </a:r>
            <a:r>
              <a:rPr b="1" i="0" lang="en" sz="900" u="none" cap="none" strike="noStrike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71" y="4378833"/>
            <a:ext cx="71323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/>
        </p:nvSpPr>
        <p:spPr>
          <a:xfrm>
            <a:off x="643280" y="4378833"/>
            <a:ext cx="3446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Weekdays: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Sharp peaks at 8 AM and 5 PM (Corporate Hubs).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271" y="4586630"/>
            <a:ext cx="71323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9"/>
          <p:cNvSpPr txBox="1"/>
          <p:nvPr/>
        </p:nvSpPr>
        <p:spPr>
          <a:xfrm>
            <a:off x="643280" y="4586630"/>
            <a:ext cx="3329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Weekends: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Bell curve distribution peaking midday (12 PM - 4 PM).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4315054" y="814730"/>
            <a:ext cx="4400700" cy="2178600"/>
          </a:xfrm>
          <a:prstGeom prst="roundRect">
            <a:avLst>
              <a:gd fmla="val 1238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  <a:effectLst>
            <a:outerShdw blurRad="104775" rotWithShape="0" algn="bl" dir="16200000" dist="28575">
              <a:srgbClr val="000000">
                <a:alpha val="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58023" y="964235"/>
            <a:ext cx="614476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9"/>
          <p:cNvSpPr/>
          <p:nvPr/>
        </p:nvSpPr>
        <p:spPr>
          <a:xfrm>
            <a:off x="7958024" y="964235"/>
            <a:ext cx="614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A3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0077A3"/>
                </a:solidFill>
                <a:latin typeface="Montserrat"/>
                <a:ea typeface="Montserrat"/>
                <a:cs typeface="Montserrat"/>
                <a:sym typeface="Montserrat"/>
              </a:rPr>
              <a:t>Peak: 72°F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4422038" y="964235"/>
            <a:ext cx="41868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Lora"/>
              <a:buNone/>
            </a:pPr>
            <a:r>
              <a:rPr b="1" i="0" lang="en" sz="800" u="none" cap="none" strike="noStrike">
                <a:solidFill>
                  <a:srgbClr val="555555"/>
                </a:solidFill>
                <a:latin typeface="Lora"/>
                <a:ea typeface="Lora"/>
                <a:cs typeface="Lora"/>
                <a:sym typeface="Lora"/>
              </a:rPr>
              <a:t>Average Daily Trips by Temperature Range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19"/>
          <p:cNvPicPr preferRelativeResize="0"/>
          <p:nvPr/>
        </p:nvPicPr>
        <p:blipFill rotWithShape="1">
          <a:blip r:embed="rId9">
            <a:alphaModFix/>
          </a:blip>
          <a:srcRect b="-10" l="0" r="0" t="-10"/>
          <a:stretch/>
        </p:blipFill>
        <p:spPr>
          <a:xfrm>
            <a:off x="4464558" y="1221410"/>
            <a:ext cx="4100399" cy="157185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9"/>
          <p:cNvSpPr/>
          <p:nvPr/>
        </p:nvSpPr>
        <p:spPr>
          <a:xfrm>
            <a:off x="0" y="5214824"/>
            <a:ext cx="9143700" cy="13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0" y="5214824"/>
            <a:ext cx="91437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428625" y="5222367"/>
            <a:ext cx="2985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7015049" y="5222367"/>
            <a:ext cx="203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Citi Bike Operations Strategy • Group #3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43926" y="3365150"/>
            <a:ext cx="3871824" cy="172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275225" y="3046870"/>
            <a:ext cx="4544975" cy="2049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/>
          <p:nvPr/>
        </p:nvSpPr>
        <p:spPr>
          <a:xfrm>
            <a:off x="428625" y="257175"/>
            <a:ext cx="43200" cy="342900"/>
          </a:xfrm>
          <a:prstGeom prst="rect">
            <a:avLst/>
          </a:prstGeom>
          <a:solidFill>
            <a:srgbClr val="48BB78"/>
          </a:solidFill>
          <a:ln cap="flat" cmpd="sng" w="9525">
            <a:solidFill>
              <a:srgbClr val="48BB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586359" y="257175"/>
            <a:ext cx="5880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Recommendation #1: Proactive Fleet Staging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428613" y="790643"/>
            <a:ext cx="4843800" cy="857400"/>
          </a:xfrm>
          <a:prstGeom prst="roundRect">
            <a:avLst>
              <a:gd fmla="val 5333" name="adj"/>
            </a:avLst>
          </a:prstGeom>
          <a:solidFill>
            <a:srgbClr val="F0F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428525" y="790643"/>
            <a:ext cx="28800" cy="857400"/>
          </a:xfrm>
          <a:prstGeom prst="roundRect">
            <a:avLst>
              <a:gd fmla="val 158729" name="adj"/>
            </a:avLst>
          </a:prstGeom>
          <a:solidFill>
            <a:srgbClr val="48BB78"/>
          </a:solidFill>
          <a:ln cap="flat" cmpd="sng" w="9525">
            <a:solidFill>
              <a:srgbClr val="48BB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750253" y="933289"/>
            <a:ext cx="44652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F855A"/>
                </a:solidFill>
                <a:latin typeface="Montserrat"/>
                <a:ea typeface="Montserrat"/>
                <a:cs typeface="Montserrat"/>
                <a:sym typeface="Montserrat"/>
              </a:rPr>
              <a:t>Core Strategy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2" name="Google Shape;322;p20"/>
          <p:cNvPicPr preferRelativeResize="0"/>
          <p:nvPr/>
        </p:nvPicPr>
        <p:blipFill rotWithShape="1">
          <a:blip r:embed="rId4">
            <a:alphaModFix/>
          </a:blip>
          <a:srcRect b="0" l="-2843" r="-2832" t="0"/>
          <a:stretch/>
        </p:blipFill>
        <p:spPr>
          <a:xfrm>
            <a:off x="600075" y="982066"/>
            <a:ext cx="92583" cy="10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 txBox="1"/>
          <p:nvPr/>
        </p:nvSpPr>
        <p:spPr>
          <a:xfrm>
            <a:off x="600063" y="1140401"/>
            <a:ext cx="45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Lora"/>
              <a:buNone/>
            </a:pPr>
            <a:r>
              <a:rPr b="1" lang="en" sz="1000">
                <a:solidFill>
                  <a:srgbClr val="2D3748"/>
                </a:solidFill>
                <a:latin typeface="Lora"/>
                <a:ea typeface="Lora"/>
                <a:cs typeface="Lora"/>
                <a:sym typeface="Lora"/>
              </a:rPr>
              <a:t>P</a:t>
            </a:r>
            <a:r>
              <a:rPr b="1" i="0" lang="en" sz="1000" u="none" cap="none" strike="noStrike">
                <a:solidFill>
                  <a:srgbClr val="2D3748"/>
                </a:solidFill>
                <a:latin typeface="Lora"/>
                <a:ea typeface="Lora"/>
                <a:cs typeface="Lora"/>
                <a:sym typeface="Lora"/>
              </a:rPr>
              <a:t>re-position bike inventory from corporate hubs to high-potential leisure and recreational routes ahead of forecasted demand spikes.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428625" y="1838625"/>
            <a:ext cx="4686900" cy="2850000"/>
          </a:xfrm>
          <a:prstGeom prst="roundRect">
            <a:avLst>
              <a:gd fmla="val 7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7625" rotWithShape="0" algn="bl" dir="16200000" dist="28575">
              <a:srgbClr val="000000">
                <a:alpha val="19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606933" y="2260397"/>
            <a:ext cx="4486500" cy="14400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EDF2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20"/>
          <p:cNvPicPr preferRelativeResize="0"/>
          <p:nvPr/>
        </p:nvPicPr>
        <p:blipFill rotWithShape="1">
          <a:blip r:embed="rId5">
            <a:alphaModFix/>
          </a:blip>
          <a:srcRect b="-181" l="0" r="0" t="-181"/>
          <a:stretch/>
        </p:blipFill>
        <p:spPr>
          <a:xfrm>
            <a:off x="606933" y="2045741"/>
            <a:ext cx="142646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0"/>
          <p:cNvSpPr txBox="1"/>
          <p:nvPr/>
        </p:nvSpPr>
        <p:spPr>
          <a:xfrm>
            <a:off x="750265" y="2017624"/>
            <a:ext cx="132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" y="2388641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/>
          <p:nvPr/>
        </p:nvSpPr>
        <p:spPr>
          <a:xfrm>
            <a:off x="606933" y="2388641"/>
            <a:ext cx="200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921715" y="2388641"/>
            <a:ext cx="425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Deploy Before Afternoon Peak (12-2 PM)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921724" y="2577925"/>
            <a:ext cx="38541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Shift inventory during the midday lull to ensure stations are stocked before the 3 PM - 7 PM warm weather surge.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" y="2952369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0"/>
          <p:cNvSpPr/>
          <p:nvPr/>
        </p:nvSpPr>
        <p:spPr>
          <a:xfrm>
            <a:off x="606933" y="2952369"/>
            <a:ext cx="200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921715" y="2952369"/>
            <a:ext cx="425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Target High-Potential Leisure Zones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921715" y="3141650"/>
            <a:ext cx="4686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Prioritize stations near Central Park, Hudson River Greenway, and Brooklyn Bridge Park.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" y="3386480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0"/>
          <p:cNvSpPr/>
          <p:nvPr/>
        </p:nvSpPr>
        <p:spPr>
          <a:xfrm>
            <a:off x="606933" y="3386480"/>
            <a:ext cx="200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921715" y="3386480"/>
            <a:ext cx="425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Monitor Real-Time Capacity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921715" y="3575762"/>
            <a:ext cx="4686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Use dashboard alerts to track net flow at staging locations to prevent overstocking.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606933" y="3848710"/>
            <a:ext cx="4486500" cy="657000"/>
          </a:xfrm>
          <a:prstGeom prst="roundRect">
            <a:avLst>
              <a:gd fmla="val 9077" name="adj"/>
            </a:avLst>
          </a:prstGeom>
          <a:solidFill>
            <a:srgbClr val="F7FAFC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20"/>
          <p:cNvPicPr preferRelativeResize="0"/>
          <p:nvPr/>
        </p:nvPicPr>
        <p:blipFill rotWithShape="1">
          <a:blip r:embed="rId7">
            <a:alphaModFix/>
          </a:blip>
          <a:srcRect b="0" l="-130" r="-140" t="0"/>
          <a:stretch/>
        </p:blipFill>
        <p:spPr>
          <a:xfrm>
            <a:off x="936117" y="3955694"/>
            <a:ext cx="12893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0"/>
          <p:cNvSpPr txBox="1"/>
          <p:nvPr/>
        </p:nvSpPr>
        <p:spPr>
          <a:xfrm>
            <a:off x="692658" y="4184066"/>
            <a:ext cx="614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Corporate Hubs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61262" y="4112743"/>
            <a:ext cx="128930" cy="128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20"/>
          <p:cNvPicPr preferRelativeResize="0"/>
          <p:nvPr/>
        </p:nvPicPr>
        <p:blipFill rotWithShape="1">
          <a:blip r:embed="rId9">
            <a:alphaModFix/>
          </a:blip>
          <a:srcRect b="0" l="-80" r="-80" t="0"/>
          <a:stretch/>
        </p:blipFill>
        <p:spPr>
          <a:xfrm>
            <a:off x="2743200" y="4009187"/>
            <a:ext cx="21465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0"/>
          <p:cNvSpPr txBox="1"/>
          <p:nvPr/>
        </p:nvSpPr>
        <p:spPr>
          <a:xfrm>
            <a:off x="2536088" y="4237559"/>
            <a:ext cx="628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Staging Move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10863" y="4112743"/>
            <a:ext cx="128930" cy="128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20"/>
          <p:cNvPicPr preferRelativeResize="0"/>
          <p:nvPr/>
        </p:nvPicPr>
        <p:blipFill rotWithShape="1">
          <a:blip r:embed="rId10">
            <a:alphaModFix/>
          </a:blip>
          <a:srcRect b="0" l="-60" r="-50" t="0"/>
          <a:stretch/>
        </p:blipFill>
        <p:spPr>
          <a:xfrm>
            <a:off x="4625721" y="4009187"/>
            <a:ext cx="15019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0"/>
          <p:cNvSpPr txBox="1"/>
          <p:nvPr/>
        </p:nvSpPr>
        <p:spPr>
          <a:xfrm>
            <a:off x="4378833" y="4237559"/>
            <a:ext cx="643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Leisure Routes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5508375" y="612000"/>
            <a:ext cx="3228900" cy="657000"/>
          </a:xfrm>
          <a:prstGeom prst="roundRect">
            <a:avLst>
              <a:gd fmla="val 7142" name="adj"/>
            </a:avLst>
          </a:prstGeom>
          <a:solidFill>
            <a:srgbClr val="EBF8FF"/>
          </a:solidFill>
          <a:ln cap="flat" cmpd="sng" w="19050">
            <a:solidFill>
              <a:srgbClr val="429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6626902" y="626391"/>
            <a:ext cx="2039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Activation Trigger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20"/>
          <p:cNvPicPr preferRelativeResize="0"/>
          <p:nvPr/>
        </p:nvPicPr>
        <p:blipFill rotWithShape="1">
          <a:blip r:embed="rId11">
            <a:alphaModFix/>
          </a:blip>
          <a:srcRect b="-1094" l="0" r="0" t="-1104"/>
          <a:stretch/>
        </p:blipFill>
        <p:spPr>
          <a:xfrm>
            <a:off x="6484256" y="645594"/>
            <a:ext cx="85725" cy="10012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0"/>
          <p:cNvSpPr txBox="1"/>
          <p:nvPr/>
        </p:nvSpPr>
        <p:spPr>
          <a:xfrm>
            <a:off x="5622891" y="833503"/>
            <a:ext cx="3000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65°–80°F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 txBox="1"/>
          <p:nvPr/>
        </p:nvSpPr>
        <p:spPr>
          <a:xfrm>
            <a:off x="5622891" y="1090678"/>
            <a:ext cx="30003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Forecasted Weather Window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5657850" y="2865272"/>
            <a:ext cx="2886000" cy="69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F7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5657850" y="3352190"/>
            <a:ext cx="2886000" cy="69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F7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5657850" y="3839108"/>
            <a:ext cx="2886000" cy="69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F7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0" y="4898669"/>
            <a:ext cx="9143700" cy="25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0" y="4898669"/>
            <a:ext cx="91437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428625" y="4960391"/>
            <a:ext cx="32748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7015049" y="4960391"/>
            <a:ext cx="203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Citi Bike Operations Strategy • Group #3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755786" y="3352200"/>
            <a:ext cx="3000300" cy="1865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08375" y="1364189"/>
            <a:ext cx="3228900" cy="18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1"/>
          <p:cNvSpPr/>
          <p:nvPr/>
        </p:nvSpPr>
        <p:spPr>
          <a:xfrm>
            <a:off x="428625" y="257175"/>
            <a:ext cx="43200" cy="342900"/>
          </a:xfrm>
          <a:prstGeom prst="rect">
            <a:avLst/>
          </a:prstGeom>
          <a:solidFill>
            <a:srgbClr val="48BB78"/>
          </a:solidFill>
          <a:ln cap="flat" cmpd="sng" w="9525">
            <a:solidFill>
              <a:srgbClr val="48BB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"/>
          <p:cNvSpPr txBox="1"/>
          <p:nvPr/>
        </p:nvSpPr>
        <p:spPr>
          <a:xfrm>
            <a:off x="586359" y="257175"/>
            <a:ext cx="65898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Recommendation #2: Dynamic Rebalancing Strategy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428625" y="814730"/>
            <a:ext cx="4843800" cy="857400"/>
          </a:xfrm>
          <a:prstGeom prst="roundRect">
            <a:avLst>
              <a:gd fmla="val 5333" name="adj"/>
            </a:avLst>
          </a:prstGeom>
          <a:solidFill>
            <a:srgbClr val="F0F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428625" y="814730"/>
            <a:ext cx="28800" cy="857400"/>
          </a:xfrm>
          <a:prstGeom prst="roundRect">
            <a:avLst>
              <a:gd fmla="val 158729" name="adj"/>
            </a:avLst>
          </a:prstGeom>
          <a:solidFill>
            <a:srgbClr val="48BB78"/>
          </a:solidFill>
          <a:ln cap="flat" cmpd="sng" w="9525">
            <a:solidFill>
              <a:srgbClr val="48BB7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1"/>
          <p:cNvSpPr txBox="1"/>
          <p:nvPr/>
        </p:nvSpPr>
        <p:spPr>
          <a:xfrm>
            <a:off x="764667" y="957377"/>
            <a:ext cx="4451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855A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F855A"/>
                </a:solidFill>
                <a:latin typeface="Montserrat"/>
                <a:ea typeface="Montserrat"/>
                <a:cs typeface="Montserrat"/>
                <a:sym typeface="Montserrat"/>
              </a:rPr>
              <a:t>Core Strategy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21"/>
          <p:cNvPicPr preferRelativeResize="0"/>
          <p:nvPr/>
        </p:nvPicPr>
        <p:blipFill rotWithShape="1">
          <a:blip r:embed="rId4">
            <a:alphaModFix/>
          </a:blip>
          <a:srcRect b="0" l="-3430" r="-3419" t="0"/>
          <a:stretch/>
        </p:blipFill>
        <p:spPr>
          <a:xfrm>
            <a:off x="600075" y="982066"/>
            <a:ext cx="106985" cy="10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1"/>
          <p:cNvSpPr txBox="1"/>
          <p:nvPr/>
        </p:nvSpPr>
        <p:spPr>
          <a:xfrm>
            <a:off x="600075" y="1164488"/>
            <a:ext cx="45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Lora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Lora"/>
                <a:ea typeface="Lora"/>
                <a:cs typeface="Lora"/>
                <a:sym typeface="Lora"/>
              </a:rPr>
              <a:t>Implement weather-integrated real-time rebalancing operations to prioritize high-pressure stations and optimize crew routing.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428625" y="1838629"/>
            <a:ext cx="4843800" cy="3029100"/>
          </a:xfrm>
          <a:prstGeom prst="roundRect">
            <a:avLst>
              <a:gd fmla="val 64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7625" rotWithShape="0" algn="bl" dir="16200000" dist="28575">
              <a:srgbClr val="000000">
                <a:alpha val="19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606933" y="2260397"/>
            <a:ext cx="4486500" cy="14400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EDF2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21"/>
          <p:cNvPicPr preferRelativeResize="0"/>
          <p:nvPr/>
        </p:nvPicPr>
        <p:blipFill rotWithShape="1">
          <a:blip r:embed="rId5">
            <a:alphaModFix/>
          </a:blip>
          <a:srcRect b="-181" l="0" r="0" t="-181"/>
          <a:stretch/>
        </p:blipFill>
        <p:spPr>
          <a:xfrm>
            <a:off x="606933" y="2045741"/>
            <a:ext cx="142646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1"/>
          <p:cNvSpPr txBox="1"/>
          <p:nvPr/>
        </p:nvSpPr>
        <p:spPr>
          <a:xfrm>
            <a:off x="750265" y="2017624"/>
            <a:ext cx="132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2" name="Google Shape;38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" y="2388641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1"/>
          <p:cNvSpPr/>
          <p:nvPr/>
        </p:nvSpPr>
        <p:spPr>
          <a:xfrm>
            <a:off x="606933" y="2388641"/>
            <a:ext cx="200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921715" y="2388641"/>
            <a:ext cx="425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Integrate Weather 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921715" y="2577923"/>
            <a:ext cx="4229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Push live weather alerts directly to field crew mobile dashboards to anticipate 65–80°F windows.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" y="2952369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1"/>
          <p:cNvSpPr/>
          <p:nvPr/>
        </p:nvSpPr>
        <p:spPr>
          <a:xfrm>
            <a:off x="606933" y="2952369"/>
            <a:ext cx="200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921715" y="2952369"/>
            <a:ext cx="425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Prioritize High-Pressure Zones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921715" y="3141650"/>
            <a:ext cx="4229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Minimize out-of-service fleet. Deploy rapid-repair teams and increase check frequency during 65–80°F windows.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t/>
            </a:r>
            <a:endParaRPr sz="700">
              <a:solidFill>
                <a:srgbClr val="71809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390" name="Google Shape;39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" y="3516097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1"/>
          <p:cNvSpPr/>
          <p:nvPr/>
        </p:nvSpPr>
        <p:spPr>
          <a:xfrm>
            <a:off x="606933" y="3516097"/>
            <a:ext cx="200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921715" y="3516097"/>
            <a:ext cx="425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Maximize Peak Availability</a:t>
            </a:r>
            <a:endParaRPr b="1" sz="800">
              <a:solidFill>
                <a:srgbClr val="2D374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921724" y="3705374"/>
            <a:ext cx="42582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Increase rebalancing frequency and crew deployment </a:t>
            </a:r>
            <a:r>
              <a:rPr lang="en" sz="700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in advance of days with</a:t>
            </a:r>
            <a:r>
              <a:rPr b="0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 optimal forecast.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606933" y="4057193"/>
            <a:ext cx="4486500" cy="628800"/>
          </a:xfrm>
          <a:prstGeom prst="roundRect">
            <a:avLst>
              <a:gd fmla="val 9914" name="adj"/>
            </a:avLst>
          </a:prstGeom>
          <a:solidFill>
            <a:srgbClr val="F7FAFC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21"/>
          <p:cNvPicPr preferRelativeResize="0"/>
          <p:nvPr/>
        </p:nvPicPr>
        <p:blipFill rotWithShape="1">
          <a:blip r:embed="rId7">
            <a:alphaModFix/>
          </a:blip>
          <a:srcRect b="0" l="-80" r="-80" t="0"/>
          <a:stretch/>
        </p:blipFill>
        <p:spPr>
          <a:xfrm>
            <a:off x="928574" y="4164178"/>
            <a:ext cx="21465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 txBox="1"/>
          <p:nvPr/>
        </p:nvSpPr>
        <p:spPr>
          <a:xfrm>
            <a:off x="692658" y="4406951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Weather Forecast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7" name="Google Shape;39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79092" y="4306824"/>
            <a:ext cx="128930" cy="128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8" name="Google Shape;398;p21"/>
          <p:cNvPicPr preferRelativeResize="0"/>
          <p:nvPr/>
        </p:nvPicPr>
        <p:blipFill rotWithShape="1">
          <a:blip r:embed="rId9">
            <a:alphaModFix/>
          </a:blip>
          <a:srcRect b="0" l="-130" r="-140" t="0"/>
          <a:stretch/>
        </p:blipFill>
        <p:spPr>
          <a:xfrm>
            <a:off x="2786405" y="4207383"/>
            <a:ext cx="12893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1"/>
          <p:cNvSpPr txBox="1"/>
          <p:nvPr/>
        </p:nvSpPr>
        <p:spPr>
          <a:xfrm>
            <a:off x="2500427" y="4450157"/>
            <a:ext cx="7002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Crew Dashboard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0" name="Google Shape;40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93033" y="4306824"/>
            <a:ext cx="128930" cy="128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1" name="Google Shape;40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79087" y="416417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1"/>
          <p:cNvSpPr txBox="1"/>
          <p:nvPr/>
        </p:nvSpPr>
        <p:spPr>
          <a:xfrm>
            <a:off x="4321912" y="4406951"/>
            <a:ext cx="685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Optimized Routing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5486400" y="814730"/>
            <a:ext cx="3228900" cy="907500"/>
          </a:xfrm>
          <a:prstGeom prst="roundRect">
            <a:avLst>
              <a:gd fmla="val 7142" name="adj"/>
            </a:avLst>
          </a:prstGeom>
          <a:solidFill>
            <a:srgbClr val="EBF8FF"/>
          </a:solidFill>
          <a:ln cap="flat" cmpd="sng" w="19050">
            <a:solidFill>
              <a:srgbClr val="429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1"/>
          <p:cNvSpPr txBox="1"/>
          <p:nvPr/>
        </p:nvSpPr>
        <p:spPr>
          <a:xfrm>
            <a:off x="6596711" y="971779"/>
            <a:ext cx="20472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Critical</a:t>
            </a:r>
            <a:r>
              <a:rPr b="1" i="0" lang="en" sz="8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 Threshold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39662" y="990981"/>
            <a:ext cx="100127" cy="100127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1"/>
          <p:cNvSpPr txBox="1"/>
          <p:nvPr/>
        </p:nvSpPr>
        <p:spPr>
          <a:xfrm>
            <a:off x="5600929" y="1178891"/>
            <a:ext cx="30003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600"/>
              <a:buFont typeface="Montserrat"/>
              <a:buNone/>
            </a:pPr>
            <a:r>
              <a:rPr b="1" lang="en" sz="16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95</a:t>
            </a:r>
            <a:r>
              <a:rPr b="1" lang="en" sz="1600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b="1" sz="1800">
              <a:solidFill>
                <a:srgbClr val="2B6CB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5600929" y="1436066"/>
            <a:ext cx="30003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Fleet Utilization During Peak Usage Temp/Time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5657850" y="2722626"/>
            <a:ext cx="2886000" cy="69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F7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5657850" y="3212288"/>
            <a:ext cx="2886000" cy="69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F7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1"/>
          <p:cNvSpPr/>
          <p:nvPr/>
        </p:nvSpPr>
        <p:spPr>
          <a:xfrm>
            <a:off x="5657850" y="3556559"/>
            <a:ext cx="2886000" cy="69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F7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0" y="4857521"/>
            <a:ext cx="91437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0" y="4857521"/>
            <a:ext cx="91437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428625" y="4939817"/>
            <a:ext cx="32748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7015049" y="4939817"/>
            <a:ext cx="203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Citi Bike Operations Strategy • Group #3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00775" y="1891075"/>
            <a:ext cx="3646175" cy="9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376586" y="3273300"/>
            <a:ext cx="3724316" cy="118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4" name="Google Shape;4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2"/>
          <p:cNvSpPr/>
          <p:nvPr/>
        </p:nvSpPr>
        <p:spPr>
          <a:xfrm>
            <a:off x="428625" y="257175"/>
            <a:ext cx="43200" cy="342900"/>
          </a:xfrm>
          <a:prstGeom prst="rect">
            <a:avLst/>
          </a:prstGeom>
          <a:solidFill>
            <a:srgbClr val="667EEA"/>
          </a:solidFill>
          <a:ln cap="flat" cmpd="sng" w="9525">
            <a:solidFill>
              <a:srgbClr val="667E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586359" y="257175"/>
            <a:ext cx="51723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Plan &amp; Success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428625" y="742721"/>
            <a:ext cx="8286600" cy="17145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4775" rotWithShape="0" algn="bl" dir="16200000" dist="28575">
              <a:srgbClr val="000000">
                <a:alpha val="31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764667" y="892912"/>
            <a:ext cx="78513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7D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5A67D8"/>
                </a:solidFill>
                <a:latin typeface="Montserrat"/>
                <a:ea typeface="Montserrat"/>
                <a:cs typeface="Montserrat"/>
                <a:sym typeface="Montserrat"/>
              </a:rPr>
              <a:t>2-Month Pilot Launch (Spring Season)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22"/>
          <p:cNvPicPr preferRelativeResize="0"/>
          <p:nvPr/>
        </p:nvPicPr>
        <p:blipFill rotWithShape="1">
          <a:blip r:embed="rId4">
            <a:alphaModFix/>
          </a:blip>
          <a:srcRect b="0" l="-2843" r="-2832" t="0"/>
          <a:stretch/>
        </p:blipFill>
        <p:spPr>
          <a:xfrm>
            <a:off x="614477" y="918286"/>
            <a:ext cx="92583" cy="100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2"/>
          <p:cNvSpPr txBox="1"/>
          <p:nvPr/>
        </p:nvSpPr>
        <p:spPr>
          <a:xfrm>
            <a:off x="593217" y="2671877"/>
            <a:ext cx="82086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7D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5A67D8"/>
                </a:solidFill>
                <a:latin typeface="Montserrat"/>
                <a:ea typeface="Montserrat"/>
                <a:cs typeface="Montserrat"/>
                <a:sym typeface="Montserrat"/>
              </a:rPr>
              <a:t>Key Performance Indicators (KPIs)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22"/>
          <p:cNvPicPr preferRelativeResize="0"/>
          <p:nvPr/>
        </p:nvPicPr>
        <p:blipFill rotWithShape="1">
          <a:blip r:embed="rId5">
            <a:alphaModFix/>
          </a:blip>
          <a:srcRect b="0" l="-3430" r="-3419" t="0"/>
          <a:stretch/>
        </p:blipFill>
        <p:spPr>
          <a:xfrm>
            <a:off x="428625" y="2696566"/>
            <a:ext cx="106985" cy="100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2"/>
          <p:cNvSpPr/>
          <p:nvPr/>
        </p:nvSpPr>
        <p:spPr>
          <a:xfrm>
            <a:off x="428625" y="3036037"/>
            <a:ext cx="1965000" cy="128580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7625" rotWithShape="0" algn="bl" dir="16200000" dist="28575">
              <a:srgbClr val="000000">
                <a:alpha val="19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428625" y="4293108"/>
            <a:ext cx="1965000" cy="28800"/>
          </a:xfrm>
          <a:prstGeom prst="roundRect">
            <a:avLst>
              <a:gd fmla="val 132274" name="adj"/>
            </a:avLst>
          </a:prstGeom>
          <a:solidFill>
            <a:srgbClr val="667EEA"/>
          </a:solidFill>
          <a:ln cap="flat" cmpd="sng" w="9525">
            <a:solidFill>
              <a:srgbClr val="667E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p22"/>
          <p:cNvPicPr preferRelativeResize="0"/>
          <p:nvPr/>
        </p:nvPicPr>
        <p:blipFill rotWithShape="1">
          <a:blip r:embed="rId6">
            <a:alphaModFix amt="80000"/>
          </a:blip>
          <a:srcRect b="0" l="-338199" r="-338199" t="0"/>
          <a:stretch/>
        </p:blipFill>
        <p:spPr>
          <a:xfrm>
            <a:off x="578815" y="3186227"/>
            <a:ext cx="1664437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2"/>
          <p:cNvSpPr txBox="1"/>
          <p:nvPr/>
        </p:nvSpPr>
        <p:spPr>
          <a:xfrm>
            <a:off x="578815" y="3496895"/>
            <a:ext cx="1731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+15%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578815" y="3828821"/>
            <a:ext cx="17316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Lift in Casual Ridership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664540" y="4043477"/>
            <a:ext cx="1645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8BB78"/>
                </a:solidFill>
                <a:latin typeface="Montserrat"/>
                <a:ea typeface="Montserrat"/>
                <a:cs typeface="Montserrat"/>
                <a:sym typeface="Montserrat"/>
              </a:rPr>
              <a:t> Primary Target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8" name="Google Shape;438;p22"/>
          <p:cNvPicPr preferRelativeResize="0"/>
          <p:nvPr/>
        </p:nvPicPr>
        <p:blipFill rotWithShape="1">
          <a:blip r:embed="rId7">
            <a:alphaModFix/>
          </a:blip>
          <a:srcRect b="0" l="-3203" r="-3203" t="0"/>
          <a:stretch/>
        </p:blipFill>
        <p:spPr>
          <a:xfrm>
            <a:off x="578816" y="4061308"/>
            <a:ext cx="56921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2"/>
          <p:cNvSpPr/>
          <p:nvPr/>
        </p:nvSpPr>
        <p:spPr>
          <a:xfrm>
            <a:off x="2536088" y="3036037"/>
            <a:ext cx="1965000" cy="128580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7625" rotWithShape="0" algn="bl" dir="16200000" dist="28575">
              <a:srgbClr val="000000">
                <a:alpha val="19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36088" y="4293108"/>
            <a:ext cx="1965000" cy="28800"/>
          </a:xfrm>
          <a:prstGeom prst="roundRect">
            <a:avLst>
              <a:gd fmla="val 132274" name="adj"/>
            </a:avLst>
          </a:prstGeom>
          <a:solidFill>
            <a:srgbClr val="667EEA"/>
          </a:solidFill>
          <a:ln cap="flat" cmpd="sng" w="9525">
            <a:solidFill>
              <a:srgbClr val="667E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22"/>
          <p:cNvPicPr preferRelativeResize="0"/>
          <p:nvPr/>
        </p:nvPicPr>
        <p:blipFill rotWithShape="1">
          <a:blip r:embed="rId8">
            <a:alphaModFix amt="80000"/>
          </a:blip>
          <a:srcRect b="0" l="-435437" r="-435437" t="0"/>
          <a:stretch/>
        </p:blipFill>
        <p:spPr>
          <a:xfrm>
            <a:off x="2686279" y="3186227"/>
            <a:ext cx="1664437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2"/>
          <p:cNvSpPr txBox="1"/>
          <p:nvPr/>
        </p:nvSpPr>
        <p:spPr>
          <a:xfrm>
            <a:off x="2686279" y="3496895"/>
            <a:ext cx="1731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-30%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2"/>
          <p:cNvSpPr txBox="1"/>
          <p:nvPr/>
        </p:nvSpPr>
        <p:spPr>
          <a:xfrm>
            <a:off x="2686279" y="3828821"/>
            <a:ext cx="17316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Stockout / Dockout Incidents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2"/>
          <p:cNvSpPr txBox="1"/>
          <p:nvPr/>
        </p:nvSpPr>
        <p:spPr>
          <a:xfrm>
            <a:off x="2772004" y="4043477"/>
            <a:ext cx="1645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8BB78"/>
                </a:solidFill>
                <a:latin typeface="Montserrat"/>
                <a:ea typeface="Montserrat"/>
                <a:cs typeface="Montserrat"/>
                <a:sym typeface="Montserrat"/>
              </a:rPr>
              <a:t> Service Reliability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5" name="Google Shape;445;p22"/>
          <p:cNvPicPr preferRelativeResize="0"/>
          <p:nvPr/>
        </p:nvPicPr>
        <p:blipFill rotWithShape="1">
          <a:blip r:embed="rId9">
            <a:alphaModFix/>
          </a:blip>
          <a:srcRect b="0" l="-3203" r="-3203" t="0"/>
          <a:stretch/>
        </p:blipFill>
        <p:spPr>
          <a:xfrm>
            <a:off x="2686279" y="4061308"/>
            <a:ext cx="56921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2"/>
          <p:cNvSpPr/>
          <p:nvPr/>
        </p:nvSpPr>
        <p:spPr>
          <a:xfrm>
            <a:off x="4643552" y="3036037"/>
            <a:ext cx="1965000" cy="128580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7625" rotWithShape="0" algn="bl" dir="16200000" dist="28575">
              <a:srgbClr val="000000">
                <a:alpha val="19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2"/>
          <p:cNvSpPr/>
          <p:nvPr/>
        </p:nvSpPr>
        <p:spPr>
          <a:xfrm>
            <a:off x="4643552" y="4293108"/>
            <a:ext cx="1965000" cy="28800"/>
          </a:xfrm>
          <a:prstGeom prst="roundRect">
            <a:avLst>
              <a:gd fmla="val 132274" name="adj"/>
            </a:avLst>
          </a:prstGeom>
          <a:solidFill>
            <a:srgbClr val="667EEA"/>
          </a:solidFill>
          <a:ln cap="flat" cmpd="sng" w="9525">
            <a:solidFill>
              <a:srgbClr val="667E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8" name="Google Shape;448;p22"/>
          <p:cNvPicPr preferRelativeResize="0"/>
          <p:nvPr/>
        </p:nvPicPr>
        <p:blipFill rotWithShape="1">
          <a:blip r:embed="rId10">
            <a:alphaModFix amt="80000"/>
          </a:blip>
          <a:srcRect b="0" l="-726397" r="-726397" t="0"/>
          <a:stretch/>
        </p:blipFill>
        <p:spPr>
          <a:xfrm>
            <a:off x="4793742" y="3186227"/>
            <a:ext cx="166443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2"/>
          <p:cNvSpPr txBox="1"/>
          <p:nvPr/>
        </p:nvSpPr>
        <p:spPr>
          <a:xfrm>
            <a:off x="4793742" y="3496895"/>
            <a:ext cx="1731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-25%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>
            <a:off x="4793742" y="3828821"/>
            <a:ext cx="17316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Emergency Rebalancing Costs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4879467" y="4043477"/>
            <a:ext cx="1645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8BB78"/>
                </a:solidFill>
                <a:latin typeface="Montserrat"/>
                <a:ea typeface="Montserrat"/>
                <a:cs typeface="Montserrat"/>
                <a:sym typeface="Montserrat"/>
              </a:rPr>
              <a:t> Operational Efficiency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22"/>
          <p:cNvPicPr preferRelativeResize="0"/>
          <p:nvPr/>
        </p:nvPicPr>
        <p:blipFill rotWithShape="1">
          <a:blip r:embed="rId9">
            <a:alphaModFix/>
          </a:blip>
          <a:srcRect b="0" l="-3203" r="-3203" t="0"/>
          <a:stretch/>
        </p:blipFill>
        <p:spPr>
          <a:xfrm>
            <a:off x="4793742" y="4061308"/>
            <a:ext cx="56921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2"/>
          <p:cNvSpPr/>
          <p:nvPr/>
        </p:nvSpPr>
        <p:spPr>
          <a:xfrm>
            <a:off x="6751016" y="3036037"/>
            <a:ext cx="1965000" cy="128580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7625" rotWithShape="0" algn="bl" dir="16200000" dist="28575">
              <a:srgbClr val="000000">
                <a:alpha val="19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6751016" y="4293108"/>
            <a:ext cx="1965000" cy="28800"/>
          </a:xfrm>
          <a:prstGeom prst="roundRect">
            <a:avLst>
              <a:gd fmla="val 132274" name="adj"/>
            </a:avLst>
          </a:prstGeom>
          <a:solidFill>
            <a:srgbClr val="667EEA"/>
          </a:solidFill>
          <a:ln cap="flat" cmpd="sng" w="9525">
            <a:solidFill>
              <a:srgbClr val="667EE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22"/>
          <p:cNvPicPr preferRelativeResize="0"/>
          <p:nvPr/>
        </p:nvPicPr>
        <p:blipFill rotWithShape="1">
          <a:blip r:embed="rId11">
            <a:alphaModFix amt="80000"/>
          </a:blip>
          <a:srcRect b="0" l="-338199" r="-338199" t="0"/>
          <a:stretch/>
        </p:blipFill>
        <p:spPr>
          <a:xfrm>
            <a:off x="6901205" y="3186227"/>
            <a:ext cx="1664437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2"/>
          <p:cNvSpPr txBox="1"/>
          <p:nvPr/>
        </p:nvSpPr>
        <p:spPr>
          <a:xfrm>
            <a:off x="6901205" y="3496895"/>
            <a:ext cx="17316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High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 txBox="1"/>
          <p:nvPr/>
        </p:nvSpPr>
        <p:spPr>
          <a:xfrm>
            <a:off x="6901205" y="3828821"/>
            <a:ext cx="17316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Casual-to-Subscriber Conversion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2"/>
          <p:cNvSpPr txBox="1"/>
          <p:nvPr/>
        </p:nvSpPr>
        <p:spPr>
          <a:xfrm>
            <a:off x="7001333" y="4043477"/>
            <a:ext cx="1631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8BB78"/>
                </a:solidFill>
                <a:latin typeface="Montserrat"/>
                <a:ea typeface="Montserrat"/>
                <a:cs typeface="Montserrat"/>
                <a:sym typeface="Montserrat"/>
              </a:rPr>
              <a:t> Long-Term Growth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9" name="Google Shape;459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01205" y="4061308"/>
            <a:ext cx="71323" cy="71323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2"/>
          <p:cNvSpPr/>
          <p:nvPr/>
        </p:nvSpPr>
        <p:spPr>
          <a:xfrm>
            <a:off x="428625" y="4464558"/>
            <a:ext cx="2285700" cy="714600"/>
          </a:xfrm>
          <a:prstGeom prst="roundRect">
            <a:avLst>
              <a:gd fmla="val 7678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2"/>
          <p:cNvSpPr/>
          <p:nvPr/>
        </p:nvSpPr>
        <p:spPr>
          <a:xfrm>
            <a:off x="428625" y="4464558"/>
            <a:ext cx="28800" cy="714600"/>
          </a:xfrm>
          <a:prstGeom prst="roundRect">
            <a:avLst>
              <a:gd fmla="val 190475" name="adj"/>
            </a:avLst>
          </a:prstGeom>
          <a:solidFill>
            <a:srgbClr val="4A5568"/>
          </a:solidFill>
          <a:ln cap="flat" cmpd="sng" w="9525">
            <a:solidFill>
              <a:srgbClr val="4A556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"/>
          <p:cNvSpPr/>
          <p:nvPr/>
        </p:nvSpPr>
        <p:spPr>
          <a:xfrm>
            <a:off x="564413" y="4679213"/>
            <a:ext cx="285900" cy="285900"/>
          </a:xfrm>
          <a:prstGeom prst="ellipse">
            <a:avLst/>
          </a:prstGeom>
          <a:solidFill>
            <a:srgbClr val="EDF2F7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3" name="Google Shape;463;p22"/>
          <p:cNvPicPr preferRelativeResize="0"/>
          <p:nvPr/>
        </p:nvPicPr>
        <p:blipFill rotWithShape="1">
          <a:blip r:embed="rId13">
            <a:alphaModFix/>
          </a:blip>
          <a:srcRect b="-844" l="0" r="0" t="-844"/>
          <a:stretch/>
        </p:blipFill>
        <p:spPr>
          <a:xfrm>
            <a:off x="635737" y="4758080"/>
            <a:ext cx="142646" cy="12893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2"/>
          <p:cNvSpPr txBox="1"/>
          <p:nvPr/>
        </p:nvSpPr>
        <p:spPr>
          <a:xfrm>
            <a:off x="957377" y="4623664"/>
            <a:ext cx="17166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Real-Time Dashboard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 txBox="1"/>
          <p:nvPr/>
        </p:nvSpPr>
        <p:spPr>
          <a:xfrm>
            <a:off x="957377" y="4784827"/>
            <a:ext cx="17079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0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Live tracking of net bikes per station stability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2855671" y="4464558"/>
            <a:ext cx="2285700" cy="714600"/>
          </a:xfrm>
          <a:prstGeom prst="roundRect">
            <a:avLst>
              <a:gd fmla="val 7678" name="adj"/>
            </a:avLst>
          </a:prstGeom>
          <a:solidFill>
            <a:srgbClr val="F7FA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2"/>
          <p:cNvSpPr/>
          <p:nvPr/>
        </p:nvSpPr>
        <p:spPr>
          <a:xfrm>
            <a:off x="2855672" y="4464558"/>
            <a:ext cx="28800" cy="714600"/>
          </a:xfrm>
          <a:prstGeom prst="roundRect">
            <a:avLst>
              <a:gd fmla="val 190475" name="adj"/>
            </a:avLst>
          </a:prstGeom>
          <a:solidFill>
            <a:srgbClr val="4A5568"/>
          </a:solidFill>
          <a:ln cap="flat" cmpd="sng" w="9525">
            <a:solidFill>
              <a:srgbClr val="4A556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2"/>
          <p:cNvSpPr/>
          <p:nvPr/>
        </p:nvSpPr>
        <p:spPr>
          <a:xfrm>
            <a:off x="2990774" y="4679213"/>
            <a:ext cx="285900" cy="285900"/>
          </a:xfrm>
          <a:prstGeom prst="ellipse">
            <a:avLst/>
          </a:prstGeom>
          <a:solidFill>
            <a:srgbClr val="EDF2F7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9" name="Google Shape;469;p22"/>
          <p:cNvPicPr preferRelativeResize="0"/>
          <p:nvPr/>
        </p:nvPicPr>
        <p:blipFill rotWithShape="1">
          <a:blip r:embed="rId14">
            <a:alphaModFix/>
          </a:blip>
          <a:srcRect b="0" l="-1771" r="-1771" t="0"/>
          <a:stretch/>
        </p:blipFill>
        <p:spPr>
          <a:xfrm>
            <a:off x="3084043" y="4758080"/>
            <a:ext cx="100127" cy="12893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2"/>
          <p:cNvSpPr txBox="1"/>
          <p:nvPr/>
        </p:nvSpPr>
        <p:spPr>
          <a:xfrm>
            <a:off x="3383738" y="4623664"/>
            <a:ext cx="17166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Weekly Ops Reviews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3383738" y="4784827"/>
            <a:ext cx="17079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0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Performance evaluation with operations team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2"/>
          <p:cNvSpPr/>
          <p:nvPr/>
        </p:nvSpPr>
        <p:spPr>
          <a:xfrm>
            <a:off x="5282032" y="4464558"/>
            <a:ext cx="3435600" cy="714600"/>
          </a:xfrm>
          <a:prstGeom prst="roundRect">
            <a:avLst>
              <a:gd fmla="val 7678" name="adj"/>
            </a:avLst>
          </a:prstGeom>
          <a:solidFill>
            <a:srgbClr val="EBF8FF"/>
          </a:solidFill>
          <a:ln cap="flat" cmpd="sng" w="9525">
            <a:solidFill>
              <a:srgbClr val="429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2"/>
          <p:cNvSpPr txBox="1"/>
          <p:nvPr/>
        </p:nvSpPr>
        <p:spPr>
          <a:xfrm>
            <a:off x="5603672" y="4752594"/>
            <a:ext cx="9507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LONG-TERM GOAL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4" name="Google Shape;474;p22"/>
          <p:cNvPicPr preferRelativeResize="0"/>
          <p:nvPr/>
        </p:nvPicPr>
        <p:blipFill rotWithShape="1">
          <a:blip r:embed="rId15">
            <a:alphaModFix/>
          </a:blip>
          <a:srcRect b="-1366" l="0" r="0" t="-1356"/>
          <a:stretch/>
        </p:blipFill>
        <p:spPr>
          <a:xfrm>
            <a:off x="5467883" y="4771111"/>
            <a:ext cx="78867" cy="92583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2"/>
          <p:cNvSpPr txBox="1"/>
          <p:nvPr/>
        </p:nvSpPr>
        <p:spPr>
          <a:xfrm>
            <a:off x="6602882" y="4613377"/>
            <a:ext cx="1986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2C5282"/>
                </a:solidFill>
                <a:latin typeface="Montserrat"/>
                <a:ea typeface="Montserrat"/>
                <a:cs typeface="Montserrat"/>
                <a:sym typeface="Montserrat"/>
              </a:rPr>
              <a:t>Convert casual riders to annual subscribers, increasing lifetime customer value.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/>
          <p:nvPr/>
        </p:nvSpPr>
        <p:spPr>
          <a:xfrm>
            <a:off x="0" y="5393817"/>
            <a:ext cx="9143700" cy="13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2"/>
          <p:cNvSpPr/>
          <p:nvPr/>
        </p:nvSpPr>
        <p:spPr>
          <a:xfrm>
            <a:off x="0" y="5393817"/>
            <a:ext cx="91437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2"/>
          <p:cNvSpPr txBox="1"/>
          <p:nvPr/>
        </p:nvSpPr>
        <p:spPr>
          <a:xfrm>
            <a:off x="428625" y="5400675"/>
            <a:ext cx="22905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7015049" y="5400675"/>
            <a:ext cx="203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Citi Bike Operations Strategy • Group #3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0" name="Google Shape;480;p22"/>
          <p:cNvPicPr preferRelativeResize="0"/>
          <p:nvPr/>
        </p:nvPicPr>
        <p:blipFill rotWithShape="1">
          <a:blip r:embed="rId16">
            <a:alphaModFix/>
          </a:blip>
          <a:srcRect b="-403" l="0" r="0" t="-403"/>
          <a:stretch/>
        </p:blipFill>
        <p:spPr>
          <a:xfrm>
            <a:off x="900455" y="1728902"/>
            <a:ext cx="7343542" cy="28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1" name="Google Shape;481;p22"/>
          <p:cNvPicPr preferRelativeResize="0"/>
          <p:nvPr/>
        </p:nvPicPr>
        <p:blipFill rotWithShape="1">
          <a:blip r:embed="rId17">
            <a:alphaModFix/>
          </a:blip>
          <a:srcRect b="-403" l="0" r="0" t="-403"/>
          <a:stretch/>
        </p:blipFill>
        <p:spPr>
          <a:xfrm>
            <a:off x="900455" y="1728902"/>
            <a:ext cx="5540581" cy="28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2" name="Google Shape;482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14679" y="132908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2"/>
          <p:cNvSpPr txBox="1"/>
          <p:nvPr/>
        </p:nvSpPr>
        <p:spPr>
          <a:xfrm>
            <a:off x="1172033" y="1586255"/>
            <a:ext cx="4575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Week 1-2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823645" y="1743989"/>
            <a:ext cx="1156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System Integration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 txBox="1"/>
          <p:nvPr/>
        </p:nvSpPr>
        <p:spPr>
          <a:xfrm>
            <a:off x="731749" y="1892123"/>
            <a:ext cx="13374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0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Weather API setup &amp; Crew dashboard updates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6" name="Google Shape;486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429000" y="132908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2"/>
          <p:cNvSpPr txBox="1"/>
          <p:nvPr/>
        </p:nvSpPr>
        <p:spPr>
          <a:xfrm>
            <a:off x="3272638" y="1586255"/>
            <a:ext cx="4863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Week 3-4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 txBox="1"/>
          <p:nvPr/>
        </p:nvSpPr>
        <p:spPr>
          <a:xfrm>
            <a:off x="3105302" y="1743989"/>
            <a:ext cx="8250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Staff Training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 txBox="1"/>
          <p:nvPr/>
        </p:nvSpPr>
        <p:spPr>
          <a:xfrm>
            <a:off x="2846070" y="1892123"/>
            <a:ext cx="13374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0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New routing protocols &amp; staging procedures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0" name="Google Shape;490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543321" y="132908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2"/>
          <p:cNvSpPr txBox="1"/>
          <p:nvPr/>
        </p:nvSpPr>
        <p:spPr>
          <a:xfrm>
            <a:off x="5388331" y="1586255"/>
            <a:ext cx="4863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Week 5-8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 txBox="1"/>
          <p:nvPr/>
        </p:nvSpPr>
        <p:spPr>
          <a:xfrm>
            <a:off x="5347868" y="1743989"/>
            <a:ext cx="5700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Live Pilot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 txBox="1"/>
          <p:nvPr/>
        </p:nvSpPr>
        <p:spPr>
          <a:xfrm>
            <a:off x="4960391" y="1892123"/>
            <a:ext cx="13374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0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Active dynamic rebalancing in 65-80°F windows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7658329" y="1329080"/>
            <a:ext cx="171600" cy="171600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2"/>
          <p:cNvSpPr txBox="1"/>
          <p:nvPr/>
        </p:nvSpPr>
        <p:spPr>
          <a:xfrm>
            <a:off x="7481393" y="1586255"/>
            <a:ext cx="5274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1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Post-Pilot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>
            <a:off x="7296912" y="1743989"/>
            <a:ext cx="8997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Review &amp; 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 txBox="1"/>
          <p:nvPr/>
        </p:nvSpPr>
        <p:spPr>
          <a:xfrm>
            <a:off x="7075399" y="1892123"/>
            <a:ext cx="13374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0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Performance analysis &amp; full rollout decision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3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3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5" name="Google Shape;5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3"/>
          <p:cNvSpPr/>
          <p:nvPr/>
        </p:nvSpPr>
        <p:spPr>
          <a:xfrm>
            <a:off x="428625" y="257175"/>
            <a:ext cx="43200" cy="342900"/>
          </a:xfrm>
          <a:prstGeom prst="rect">
            <a:avLst/>
          </a:prstGeom>
          <a:solidFill>
            <a:srgbClr val="ED8936"/>
          </a:solidFill>
          <a:ln cap="flat" cmpd="sng" w="9525">
            <a:solidFill>
              <a:srgbClr val="ED893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3"/>
          <p:cNvSpPr txBox="1"/>
          <p:nvPr/>
        </p:nvSpPr>
        <p:spPr>
          <a:xfrm>
            <a:off x="586359" y="257175"/>
            <a:ext cx="72984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Recommendation #3: Seasonal Maintenance Optimization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428625" y="814730"/>
            <a:ext cx="4843800" cy="857400"/>
          </a:xfrm>
          <a:prstGeom prst="roundRect">
            <a:avLst>
              <a:gd fmla="val 5333" name="adj"/>
            </a:avLst>
          </a:prstGeom>
          <a:solidFill>
            <a:srgbClr val="FFFA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3"/>
          <p:cNvSpPr/>
          <p:nvPr/>
        </p:nvSpPr>
        <p:spPr>
          <a:xfrm>
            <a:off x="428625" y="814730"/>
            <a:ext cx="28800" cy="857400"/>
          </a:xfrm>
          <a:prstGeom prst="roundRect">
            <a:avLst>
              <a:gd fmla="val 158729" name="adj"/>
            </a:avLst>
          </a:prstGeom>
          <a:solidFill>
            <a:srgbClr val="ED8936"/>
          </a:solidFill>
          <a:ln cap="flat" cmpd="sng" w="9525">
            <a:solidFill>
              <a:srgbClr val="ED893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"/>
          <p:cNvSpPr txBox="1"/>
          <p:nvPr/>
        </p:nvSpPr>
        <p:spPr>
          <a:xfrm>
            <a:off x="764667" y="957377"/>
            <a:ext cx="4451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621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C05621"/>
                </a:solidFill>
                <a:latin typeface="Montserrat"/>
                <a:ea typeface="Montserrat"/>
                <a:cs typeface="Montserrat"/>
                <a:sym typeface="Montserrat"/>
              </a:rPr>
              <a:t>Core Strategy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1" name="Google Shape;511;p23"/>
          <p:cNvPicPr preferRelativeResize="0"/>
          <p:nvPr/>
        </p:nvPicPr>
        <p:blipFill rotWithShape="1">
          <a:blip r:embed="rId4">
            <a:alphaModFix/>
          </a:blip>
          <a:srcRect b="0" l="-3430" r="-3419" t="0"/>
          <a:stretch/>
        </p:blipFill>
        <p:spPr>
          <a:xfrm>
            <a:off x="600075" y="982066"/>
            <a:ext cx="106985" cy="100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3"/>
          <p:cNvSpPr txBox="1"/>
          <p:nvPr/>
        </p:nvSpPr>
        <p:spPr>
          <a:xfrm>
            <a:off x="600075" y="1164488"/>
            <a:ext cx="458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Lora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Lora"/>
                <a:ea typeface="Lora"/>
                <a:cs typeface="Lora"/>
                <a:sym typeface="Lora"/>
              </a:rPr>
              <a:t>Align heavy maintenance cycles with seasonal demand patterns to maximize fleet availability during revenue-generating windows.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428625" y="1838629"/>
            <a:ext cx="4843800" cy="3000300"/>
          </a:xfrm>
          <a:prstGeom prst="roundRect">
            <a:avLst>
              <a:gd fmla="val 65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7625" rotWithShape="0" algn="bl" dir="16200000" dist="28575">
              <a:srgbClr val="000000">
                <a:alpha val="19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>
            <a:off x="606933" y="2260397"/>
            <a:ext cx="4486500" cy="14400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EDF2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5" name="Google Shape;515;p23"/>
          <p:cNvPicPr preferRelativeResize="0"/>
          <p:nvPr/>
        </p:nvPicPr>
        <p:blipFill rotWithShape="1">
          <a:blip r:embed="rId5">
            <a:alphaModFix/>
          </a:blip>
          <a:srcRect b="-100" l="0" r="0" t="-100"/>
          <a:stretch/>
        </p:blipFill>
        <p:spPr>
          <a:xfrm>
            <a:off x="606933" y="2045741"/>
            <a:ext cx="85725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3"/>
          <p:cNvSpPr txBox="1"/>
          <p:nvPr/>
        </p:nvSpPr>
        <p:spPr>
          <a:xfrm>
            <a:off x="692658" y="2017624"/>
            <a:ext cx="132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7" name="Google Shape;51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" y="2403044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3"/>
          <p:cNvSpPr/>
          <p:nvPr/>
        </p:nvSpPr>
        <p:spPr>
          <a:xfrm>
            <a:off x="606933" y="2403044"/>
            <a:ext cx="200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>
            <a:off x="921715" y="2388641"/>
            <a:ext cx="425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Winter: Deep Maintenance (Nov–Feb)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 txBox="1"/>
          <p:nvPr/>
        </p:nvSpPr>
        <p:spPr>
          <a:xfrm>
            <a:off x="921715" y="2577923"/>
            <a:ext cx="4229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Shift heavy fleet overhauls and infrastructure upgrades to low-demand months. Clear repair backlogs before March 1st.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1" name="Google Shape;52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" y="2981173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3"/>
          <p:cNvSpPr/>
          <p:nvPr/>
        </p:nvSpPr>
        <p:spPr>
          <a:xfrm>
            <a:off x="606933" y="2981173"/>
            <a:ext cx="200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>
            <a:off x="921715" y="2966771"/>
            <a:ext cx="425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Spring/Summer: Rapid Response (Mar–Oct)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 txBox="1"/>
          <p:nvPr/>
        </p:nvSpPr>
        <p:spPr>
          <a:xfrm>
            <a:off x="921715" y="3156052"/>
            <a:ext cx="42294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Minimize out-of-service fleet. Deploy rapid-repair teams and increase check frequency during 65–80°F windows.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5" name="Google Shape;52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" y="3559302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3"/>
          <p:cNvSpPr/>
          <p:nvPr/>
        </p:nvSpPr>
        <p:spPr>
          <a:xfrm>
            <a:off x="606933" y="3559302"/>
            <a:ext cx="200400" cy="2004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 txBox="1"/>
          <p:nvPr/>
        </p:nvSpPr>
        <p:spPr>
          <a:xfrm>
            <a:off x="921715" y="3544900"/>
            <a:ext cx="425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Maximize Peak Availability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 txBox="1"/>
          <p:nvPr/>
        </p:nvSpPr>
        <p:spPr>
          <a:xfrm>
            <a:off x="921715" y="3734181"/>
            <a:ext cx="4686900" cy="1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Ensure 100% of serviceable bikes are deployed to stations ahead of the spring surge.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606933" y="3992728"/>
            <a:ext cx="4486500" cy="664800"/>
          </a:xfrm>
          <a:prstGeom prst="roundRect">
            <a:avLst>
              <a:gd fmla="val 8877" name="adj"/>
            </a:avLst>
          </a:prstGeom>
          <a:solidFill>
            <a:srgbClr val="F7FAFC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0" name="Google Shape;530;p23"/>
          <p:cNvPicPr preferRelativeResize="0"/>
          <p:nvPr/>
        </p:nvPicPr>
        <p:blipFill rotWithShape="1">
          <a:blip r:embed="rId7">
            <a:alphaModFix/>
          </a:blip>
          <a:srcRect b="-607" l="0" r="0" t="-597"/>
          <a:stretch/>
        </p:blipFill>
        <p:spPr>
          <a:xfrm>
            <a:off x="1004012" y="4099712"/>
            <a:ext cx="135788" cy="157048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3"/>
          <p:cNvSpPr txBox="1"/>
          <p:nvPr/>
        </p:nvSpPr>
        <p:spPr>
          <a:xfrm>
            <a:off x="685800" y="4330142"/>
            <a:ext cx="771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Winter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685800" y="4451528"/>
            <a:ext cx="7716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600"/>
              <a:buFont typeface="Montserrat"/>
              <a:buNone/>
            </a:pPr>
            <a:r>
              <a:rPr b="0" i="0" lang="en" sz="600" u="none" cap="none" strike="noStrike">
                <a:solidFill>
                  <a:srgbClr val="A0AEC0"/>
                </a:solidFill>
                <a:latin typeface="Montserrat"/>
                <a:ea typeface="Montserrat"/>
                <a:cs typeface="Montserrat"/>
                <a:sym typeface="Montserrat"/>
              </a:rPr>
              <a:t>Heavy Repairs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3" name="Google Shape;533;p23"/>
          <p:cNvPicPr preferRelativeResize="0"/>
          <p:nvPr/>
        </p:nvPicPr>
        <p:blipFill rotWithShape="1">
          <a:blip r:embed="rId8">
            <a:alphaModFix/>
          </a:blip>
          <a:srcRect b="-1093" l="0" r="0" t="-1083"/>
          <a:stretch/>
        </p:blipFill>
        <p:spPr>
          <a:xfrm>
            <a:off x="1921612" y="4259504"/>
            <a:ext cx="78867" cy="128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4" name="Google Shape;53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72004" y="4099712"/>
            <a:ext cx="157048" cy="15704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3"/>
          <p:cNvSpPr txBox="1"/>
          <p:nvPr/>
        </p:nvSpPr>
        <p:spPr>
          <a:xfrm>
            <a:off x="2464766" y="4330142"/>
            <a:ext cx="771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Spring/Summer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3"/>
          <p:cNvSpPr txBox="1"/>
          <p:nvPr/>
        </p:nvSpPr>
        <p:spPr>
          <a:xfrm>
            <a:off x="2464766" y="4451528"/>
            <a:ext cx="7716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600"/>
              <a:buFont typeface="Montserrat"/>
              <a:buNone/>
            </a:pPr>
            <a:r>
              <a:rPr b="0" i="0" lang="en" sz="600" u="none" cap="none" strike="noStrike">
                <a:solidFill>
                  <a:srgbClr val="A0AEC0"/>
                </a:solidFill>
                <a:latin typeface="Montserrat"/>
                <a:ea typeface="Montserrat"/>
                <a:cs typeface="Montserrat"/>
                <a:sym typeface="Montserrat"/>
              </a:rPr>
              <a:t>Max Deployment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7" name="Google Shape;537;p23"/>
          <p:cNvPicPr preferRelativeResize="0"/>
          <p:nvPr/>
        </p:nvPicPr>
        <p:blipFill rotWithShape="1">
          <a:blip r:embed="rId8">
            <a:alphaModFix/>
          </a:blip>
          <a:srcRect b="-1093" l="0" r="0" t="-1083"/>
          <a:stretch/>
        </p:blipFill>
        <p:spPr>
          <a:xfrm>
            <a:off x="3700577" y="4259504"/>
            <a:ext cx="78867" cy="128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8" name="Google Shape;538;p23"/>
          <p:cNvPicPr preferRelativeResize="0"/>
          <p:nvPr/>
        </p:nvPicPr>
        <p:blipFill rotWithShape="1">
          <a:blip r:embed="rId10">
            <a:alphaModFix/>
          </a:blip>
          <a:srcRect b="-607" l="0" r="0" t="-597"/>
          <a:stretch/>
        </p:blipFill>
        <p:spPr>
          <a:xfrm>
            <a:off x="4561256" y="4099712"/>
            <a:ext cx="135788" cy="157048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3"/>
          <p:cNvSpPr txBox="1"/>
          <p:nvPr/>
        </p:nvSpPr>
        <p:spPr>
          <a:xfrm>
            <a:off x="4243730" y="4330142"/>
            <a:ext cx="771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Result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4243730" y="4451528"/>
            <a:ext cx="7716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600"/>
              <a:buFont typeface="Montserrat"/>
              <a:buNone/>
            </a:pPr>
            <a:r>
              <a:rPr b="0" i="0" lang="en" sz="600" u="none" cap="none" strike="noStrike">
                <a:solidFill>
                  <a:srgbClr val="A0AEC0"/>
                </a:solidFill>
                <a:latin typeface="Montserrat"/>
                <a:ea typeface="Montserrat"/>
                <a:cs typeface="Montserrat"/>
                <a:sym typeface="Montserrat"/>
              </a:rPr>
              <a:t>High Uptime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5486400" y="814730"/>
            <a:ext cx="3228900" cy="892800"/>
          </a:xfrm>
          <a:prstGeom prst="roundRect">
            <a:avLst>
              <a:gd fmla="val 7373" name="adj"/>
            </a:avLst>
          </a:prstGeom>
          <a:solidFill>
            <a:srgbClr val="EBF8FF"/>
          </a:solidFill>
          <a:ln cap="flat" cmpd="sng" w="19050">
            <a:solidFill>
              <a:srgbClr val="429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6569279" y="971779"/>
            <a:ext cx="2074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Optimization Target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3" name="Google Shape;54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12230" y="990981"/>
            <a:ext cx="100127" cy="100127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3"/>
          <p:cNvSpPr txBox="1"/>
          <p:nvPr/>
        </p:nvSpPr>
        <p:spPr>
          <a:xfrm>
            <a:off x="5600929" y="1178891"/>
            <a:ext cx="3000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95%+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/>
          <p:cNvSpPr txBox="1"/>
          <p:nvPr/>
        </p:nvSpPr>
        <p:spPr>
          <a:xfrm>
            <a:off x="5600929" y="1421663"/>
            <a:ext cx="30003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Fleet Availability in Peak Season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5486400" y="1879092"/>
            <a:ext cx="3228900" cy="2958000"/>
          </a:xfrm>
          <a:prstGeom prst="roundRect">
            <a:avLst>
              <a:gd fmla="val 672" name="adj"/>
            </a:avLst>
          </a:prstGeom>
          <a:solidFill>
            <a:srgbClr val="FFFFFF"/>
          </a:solidFill>
          <a:ln>
            <a:noFill/>
          </a:ln>
          <a:effectLst>
            <a:outerShdw blurRad="104775" rotWithShape="0" algn="bl" dir="16200000" dist="28575">
              <a:srgbClr val="000000">
                <a:alpha val="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/>
          <p:nvPr/>
        </p:nvSpPr>
        <p:spPr>
          <a:xfrm>
            <a:off x="5486400" y="1879092"/>
            <a:ext cx="3228900" cy="43200"/>
          </a:xfrm>
          <a:prstGeom prst="roundRect">
            <a:avLst>
              <a:gd fmla="val 46009" name="adj"/>
            </a:avLst>
          </a:prstGeom>
          <a:solidFill>
            <a:srgbClr val="ED8936"/>
          </a:solidFill>
          <a:ln cap="flat" cmpd="sng" w="9525">
            <a:solidFill>
              <a:srgbClr val="ED893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"/>
          <p:cNvSpPr/>
          <p:nvPr/>
        </p:nvSpPr>
        <p:spPr>
          <a:xfrm>
            <a:off x="5657850" y="2335835"/>
            <a:ext cx="2886000" cy="14400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EDF2F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9" name="Google Shape;549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657850" y="2121866"/>
            <a:ext cx="114529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3"/>
          <p:cNvSpPr txBox="1"/>
          <p:nvPr/>
        </p:nvSpPr>
        <p:spPr>
          <a:xfrm>
            <a:off x="5772379" y="2093062"/>
            <a:ext cx="1263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Expected Outcomes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5657850" y="2850871"/>
            <a:ext cx="2886000" cy="69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F7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2" name="Google Shape;552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57850" y="2479167"/>
            <a:ext cx="114529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23"/>
          <p:cNvSpPr txBox="1"/>
          <p:nvPr/>
        </p:nvSpPr>
        <p:spPr>
          <a:xfrm>
            <a:off x="5858104" y="2464766"/>
            <a:ext cx="274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Significantly higher </a:t>
            </a:r>
            <a:r>
              <a:rPr b="1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bike availability</a:t>
            </a: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during peak demand windows.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657850" y="3195143"/>
            <a:ext cx="2886000" cy="69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F7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5" name="Google Shape;555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57850" y="2966085"/>
            <a:ext cx="114529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3"/>
          <p:cNvSpPr txBox="1"/>
          <p:nvPr/>
        </p:nvSpPr>
        <p:spPr>
          <a:xfrm>
            <a:off x="5858104" y="2951684"/>
            <a:ext cx="29283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Improved system reliability and rider experience.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5657850" y="3684803"/>
            <a:ext cx="2886000" cy="69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F7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57850" y="3313100"/>
            <a:ext cx="114529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3"/>
          <p:cNvSpPr txBox="1"/>
          <p:nvPr/>
        </p:nvSpPr>
        <p:spPr>
          <a:xfrm>
            <a:off x="5858104" y="3298698"/>
            <a:ext cx="274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Reduced maintenance backlog during high-revenue periods.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0" name="Google Shape;560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57850" y="3800018"/>
            <a:ext cx="114529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3"/>
          <p:cNvSpPr txBox="1"/>
          <p:nvPr/>
        </p:nvSpPr>
        <p:spPr>
          <a:xfrm>
            <a:off x="5858104" y="3786302"/>
            <a:ext cx="274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More efficient utilization of mechanics during winter downtime.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0" y="5048174"/>
            <a:ext cx="9143700" cy="13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3"/>
          <p:cNvSpPr/>
          <p:nvPr/>
        </p:nvSpPr>
        <p:spPr>
          <a:xfrm>
            <a:off x="0" y="5048174"/>
            <a:ext cx="9143700" cy="6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3"/>
          <p:cNvSpPr txBox="1"/>
          <p:nvPr/>
        </p:nvSpPr>
        <p:spPr>
          <a:xfrm>
            <a:off x="428625" y="5055718"/>
            <a:ext cx="32748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sz="7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7015049" y="5055718"/>
            <a:ext cx="2031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Citi Bike Operations Strategy • Group #3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4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4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3" name="Google Shape;5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7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4"/>
          <p:cNvSpPr/>
          <p:nvPr/>
        </p:nvSpPr>
        <p:spPr>
          <a:xfrm>
            <a:off x="428625" y="257175"/>
            <a:ext cx="43200" cy="342900"/>
          </a:xfrm>
          <a:prstGeom prst="rect">
            <a:avLst/>
          </a:prstGeom>
          <a:solidFill>
            <a:srgbClr val="CBD5E0"/>
          </a:solidFill>
          <a:ln cap="flat" cmpd="sng" w="9525">
            <a:solidFill>
              <a:srgbClr val="CBD5E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4"/>
          <p:cNvSpPr txBox="1"/>
          <p:nvPr/>
        </p:nvSpPr>
        <p:spPr>
          <a:xfrm>
            <a:off x="586359" y="257175"/>
            <a:ext cx="4179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15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00"/>
              <a:buFont typeface="Montserrat"/>
              <a:buNone/>
            </a:pPr>
            <a:r>
              <a:rPr b="1" i="0" lang="en" sz="1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Appendix: Sources &amp; References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428625" y="1078763"/>
            <a:ext cx="4000200" cy="144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7" name="Google Shape;577;p24"/>
          <p:cNvPicPr preferRelativeResize="0"/>
          <p:nvPr/>
        </p:nvPicPr>
        <p:blipFill rotWithShape="1">
          <a:blip r:embed="rId4">
            <a:alphaModFix/>
          </a:blip>
          <a:srcRect b="0" l="-1653" r="-1642" t="0"/>
          <a:stretch/>
        </p:blipFill>
        <p:spPr>
          <a:xfrm>
            <a:off x="428625" y="839420"/>
            <a:ext cx="128930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4"/>
          <p:cNvSpPr txBox="1"/>
          <p:nvPr/>
        </p:nvSpPr>
        <p:spPr>
          <a:xfrm>
            <a:off x="643280" y="814730"/>
            <a:ext cx="19149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Primary Data 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428625" y="1271474"/>
            <a:ext cx="4000200" cy="1528500"/>
          </a:xfrm>
          <a:prstGeom prst="roundRect">
            <a:avLst>
              <a:gd fmla="val 16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 txBox="1"/>
          <p:nvPr/>
        </p:nvSpPr>
        <p:spPr>
          <a:xfrm>
            <a:off x="750265" y="1421663"/>
            <a:ext cx="361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Citi Bike Monthly Operating Report (Dec 2019)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1" name="Google Shape;58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816" y="1450467"/>
            <a:ext cx="114529" cy="114529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4"/>
          <p:cNvSpPr/>
          <p:nvPr/>
        </p:nvSpPr>
        <p:spPr>
          <a:xfrm>
            <a:off x="578815" y="1700099"/>
            <a:ext cx="3700500" cy="949800"/>
          </a:xfrm>
          <a:prstGeom prst="roundRect">
            <a:avLst>
              <a:gd fmla="val 4343" name="adj"/>
            </a:avLst>
          </a:prstGeom>
          <a:solidFill>
            <a:srgbClr val="F7FAFC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4"/>
          <p:cNvSpPr txBox="1"/>
          <p:nvPr/>
        </p:nvSpPr>
        <p:spPr>
          <a:xfrm>
            <a:off x="685800" y="1807083"/>
            <a:ext cx="11508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864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 txBox="1"/>
          <p:nvPr/>
        </p:nvSpPr>
        <p:spPr>
          <a:xfrm>
            <a:off x="685800" y="2014880"/>
            <a:ext cx="115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Active Stations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 txBox="1"/>
          <p:nvPr/>
        </p:nvSpPr>
        <p:spPr>
          <a:xfrm>
            <a:off x="1883207" y="1807083"/>
            <a:ext cx="11508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12,800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 txBox="1"/>
          <p:nvPr/>
        </p:nvSpPr>
        <p:spPr>
          <a:xfrm>
            <a:off x="1883207" y="2014880"/>
            <a:ext cx="115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Total Fleet Size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 txBox="1"/>
          <p:nvPr/>
        </p:nvSpPr>
        <p:spPr>
          <a:xfrm>
            <a:off x="3081299" y="1807083"/>
            <a:ext cx="11508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149,740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4"/>
          <p:cNvSpPr txBox="1"/>
          <p:nvPr/>
        </p:nvSpPr>
        <p:spPr>
          <a:xfrm>
            <a:off x="3081299" y="2014880"/>
            <a:ext cx="115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Annual Members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 txBox="1"/>
          <p:nvPr/>
        </p:nvSpPr>
        <p:spPr>
          <a:xfrm>
            <a:off x="685800" y="2228850"/>
            <a:ext cx="11508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975,203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4"/>
          <p:cNvSpPr txBox="1"/>
          <p:nvPr/>
        </p:nvSpPr>
        <p:spPr>
          <a:xfrm>
            <a:off x="685800" y="2435962"/>
            <a:ext cx="115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Total Trips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 txBox="1"/>
          <p:nvPr/>
        </p:nvSpPr>
        <p:spPr>
          <a:xfrm>
            <a:off x="1883207" y="2228850"/>
            <a:ext cx="11508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90,502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4"/>
          <p:cNvSpPr txBox="1"/>
          <p:nvPr/>
        </p:nvSpPr>
        <p:spPr>
          <a:xfrm>
            <a:off x="1883207" y="2435962"/>
            <a:ext cx="115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Rebalancing Actions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 txBox="1"/>
          <p:nvPr/>
        </p:nvSpPr>
        <p:spPr>
          <a:xfrm>
            <a:off x="3081299" y="2228850"/>
            <a:ext cx="11508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$2.3M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 txBox="1"/>
          <p:nvPr/>
        </p:nvSpPr>
        <p:spPr>
          <a:xfrm>
            <a:off x="3081299" y="2435962"/>
            <a:ext cx="115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600"/>
              <a:buFont typeface="Montserrat"/>
              <a:buNone/>
            </a:pPr>
            <a:r>
              <a:rPr b="1" i="0" lang="en" sz="600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Monthly Revenue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428625" y="2943454"/>
            <a:ext cx="4000200" cy="114990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 txBox="1"/>
          <p:nvPr/>
        </p:nvSpPr>
        <p:spPr>
          <a:xfrm>
            <a:off x="750265" y="3092958"/>
            <a:ext cx="361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2B6CB0"/>
                </a:solidFill>
                <a:latin typeface="Montserrat"/>
                <a:ea typeface="Montserrat"/>
                <a:cs typeface="Montserrat"/>
                <a:sym typeface="Montserrat"/>
              </a:rPr>
              <a:t>Citi Bike Trip Data 2019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7" name="Google Shape;59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816" y="3121762"/>
            <a:ext cx="114529" cy="114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8" name="Google Shape;598;p24"/>
          <p:cNvPicPr preferRelativeResize="0"/>
          <p:nvPr/>
        </p:nvPicPr>
        <p:blipFill rotWithShape="1">
          <a:blip r:embed="rId7">
            <a:alphaModFix/>
          </a:blip>
          <a:srcRect b="0" l="-3123" r="-3113" t="0"/>
          <a:stretch/>
        </p:blipFill>
        <p:spPr>
          <a:xfrm>
            <a:off x="578816" y="3382366"/>
            <a:ext cx="56921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4"/>
          <p:cNvSpPr txBox="1"/>
          <p:nvPr/>
        </p:nvSpPr>
        <p:spPr>
          <a:xfrm>
            <a:off x="635737" y="3350133"/>
            <a:ext cx="39078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Complete trip history dataset used for temporal and spatial analysis.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0" name="Google Shape;600;p24"/>
          <p:cNvPicPr preferRelativeResize="0"/>
          <p:nvPr/>
        </p:nvPicPr>
        <p:blipFill rotWithShape="1">
          <a:blip r:embed="rId7">
            <a:alphaModFix/>
          </a:blip>
          <a:srcRect b="0" l="-3123" r="-3113" t="0"/>
          <a:stretch/>
        </p:blipFill>
        <p:spPr>
          <a:xfrm>
            <a:off x="578816" y="3679317"/>
            <a:ext cx="56921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4"/>
          <p:cNvSpPr txBox="1"/>
          <p:nvPr/>
        </p:nvSpPr>
        <p:spPr>
          <a:xfrm>
            <a:off x="635737" y="3571646"/>
            <a:ext cx="3700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Montserrat"/>
              <a:buNone/>
            </a:pPr>
            <a:r>
              <a:rPr b="0" i="0" lang="en" sz="800" u="none" cap="none" strike="noStrike">
                <a:solidFill>
                  <a:srgbClr val="4A5568"/>
                </a:solidFill>
                <a:latin typeface="Montserrat"/>
                <a:ea typeface="Montserrat"/>
                <a:cs typeface="Montserrat"/>
                <a:sym typeface="Montserrat"/>
              </a:rPr>
              <a:t>Key variables: Start/End Station, Duration, User Type (Subscriber/Casual), Gender, Birth Year.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4714875" y="1078763"/>
            <a:ext cx="4000200" cy="144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3" name="Google Shape;603;p24"/>
          <p:cNvPicPr preferRelativeResize="0"/>
          <p:nvPr/>
        </p:nvPicPr>
        <p:blipFill rotWithShape="1">
          <a:blip r:embed="rId8">
            <a:alphaModFix/>
          </a:blip>
          <a:srcRect b="0" l="-1282" r="-1282" t="0"/>
          <a:stretch/>
        </p:blipFill>
        <p:spPr>
          <a:xfrm>
            <a:off x="4714875" y="839420"/>
            <a:ext cx="164592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4"/>
          <p:cNvSpPr txBox="1"/>
          <p:nvPr/>
        </p:nvSpPr>
        <p:spPr>
          <a:xfrm>
            <a:off x="4965192" y="814730"/>
            <a:ext cx="2979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Analytical Framework &amp; Artifacts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4714875" y="1271474"/>
            <a:ext cx="4000200" cy="528900"/>
          </a:xfrm>
          <a:prstGeom prst="roundRect">
            <a:avLst>
              <a:gd fmla="val 1402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16200000" dist="19050">
              <a:srgbClr val="000000">
                <a:alpha val="31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4"/>
          <p:cNvSpPr/>
          <p:nvPr/>
        </p:nvSpPr>
        <p:spPr>
          <a:xfrm>
            <a:off x="4714875" y="1271474"/>
            <a:ext cx="28800" cy="528900"/>
          </a:xfrm>
          <a:prstGeom prst="roundRect">
            <a:avLst>
              <a:gd fmla="val 257399" name="adj"/>
            </a:avLst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4"/>
          <p:cNvSpPr/>
          <p:nvPr/>
        </p:nvSpPr>
        <p:spPr>
          <a:xfrm>
            <a:off x="4850663" y="1392859"/>
            <a:ext cx="285900" cy="285900"/>
          </a:xfrm>
          <a:prstGeom prst="ellipse">
            <a:avLst/>
          </a:prstGeom>
          <a:solidFill>
            <a:srgbClr val="EBF8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8" name="Google Shape;608;p24"/>
          <p:cNvPicPr preferRelativeResize="0"/>
          <p:nvPr/>
        </p:nvPicPr>
        <p:blipFill rotWithShape="1">
          <a:blip r:embed="rId9">
            <a:alphaModFix/>
          </a:blip>
          <a:srcRect b="0" l="-1771" r="-1771" t="0"/>
          <a:stretch/>
        </p:blipFill>
        <p:spPr>
          <a:xfrm>
            <a:off x="4943246" y="1471727"/>
            <a:ext cx="100127" cy="12893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4"/>
          <p:cNvSpPr txBox="1"/>
          <p:nvPr/>
        </p:nvSpPr>
        <p:spPr>
          <a:xfrm>
            <a:off x="5243627" y="1378458"/>
            <a:ext cx="3451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TO 550 Revised Narrative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4"/>
          <p:cNvSpPr txBox="1"/>
          <p:nvPr/>
        </p:nvSpPr>
        <p:spPr>
          <a:xfrm>
            <a:off x="5243627" y="1554023"/>
            <a:ext cx="38796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Lora"/>
              <a:buNone/>
            </a:pPr>
            <a:r>
              <a:rPr b="0" i="1" lang="en" sz="700" u="none" cap="none" strike="noStrike">
                <a:solidFill>
                  <a:srgbClr val="718096"/>
                </a:solidFill>
                <a:latin typeface="Lora"/>
                <a:ea typeface="Lora"/>
                <a:cs typeface="Lora"/>
                <a:sym typeface="Lora"/>
              </a:rPr>
              <a:t>Strategic positioning, core problem statement, and call to action definition.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4714875" y="1907210"/>
            <a:ext cx="4000200" cy="671400"/>
          </a:xfrm>
          <a:prstGeom prst="roundRect">
            <a:avLst>
              <a:gd fmla="val 869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16200000" dist="19050">
              <a:srgbClr val="000000">
                <a:alpha val="31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4"/>
          <p:cNvSpPr/>
          <p:nvPr/>
        </p:nvSpPr>
        <p:spPr>
          <a:xfrm>
            <a:off x="4714875" y="1907210"/>
            <a:ext cx="28800" cy="671400"/>
          </a:xfrm>
          <a:prstGeom prst="roundRect">
            <a:avLst>
              <a:gd fmla="val 202633" name="adj"/>
            </a:avLst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4"/>
          <p:cNvSpPr/>
          <p:nvPr/>
        </p:nvSpPr>
        <p:spPr>
          <a:xfrm>
            <a:off x="4850663" y="2098548"/>
            <a:ext cx="285900" cy="285900"/>
          </a:xfrm>
          <a:prstGeom prst="ellipse">
            <a:avLst/>
          </a:prstGeom>
          <a:solidFill>
            <a:srgbClr val="EBF8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4" name="Google Shape;614;p24"/>
          <p:cNvPicPr preferRelativeResize="0"/>
          <p:nvPr/>
        </p:nvPicPr>
        <p:blipFill rotWithShape="1">
          <a:blip r:embed="rId10">
            <a:alphaModFix/>
          </a:blip>
          <a:srcRect b="-844" l="0" r="0" t="-844"/>
          <a:stretch/>
        </p:blipFill>
        <p:spPr>
          <a:xfrm>
            <a:off x="4921987" y="2176730"/>
            <a:ext cx="142646" cy="12893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4"/>
          <p:cNvSpPr txBox="1"/>
          <p:nvPr/>
        </p:nvSpPr>
        <p:spPr>
          <a:xfrm>
            <a:off x="5243627" y="2014880"/>
            <a:ext cx="3451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TO550 Final Presentation Visuals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 txBox="1"/>
          <p:nvPr/>
        </p:nvSpPr>
        <p:spPr>
          <a:xfrm>
            <a:off x="5243627" y="2189759"/>
            <a:ext cx="3422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Lora"/>
              <a:buNone/>
            </a:pPr>
            <a:r>
              <a:rPr b="0" i="1" lang="en" sz="700" u="none" cap="none" strike="noStrike">
                <a:solidFill>
                  <a:srgbClr val="718096"/>
                </a:solidFill>
                <a:latin typeface="Lora"/>
                <a:ea typeface="Lora"/>
                <a:cs typeface="Lora"/>
                <a:sym typeface="Lora"/>
              </a:rPr>
              <a:t>Power BI dashboard visuals, demographic breakdowns, and station utilization maps.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/>
          <p:nvPr/>
        </p:nvSpPr>
        <p:spPr>
          <a:xfrm>
            <a:off x="4714875" y="2682164"/>
            <a:ext cx="4000200" cy="671400"/>
          </a:xfrm>
          <a:prstGeom prst="roundRect">
            <a:avLst>
              <a:gd fmla="val 869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16200000" dist="19050">
              <a:srgbClr val="000000">
                <a:alpha val="31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4"/>
          <p:cNvSpPr/>
          <p:nvPr/>
        </p:nvSpPr>
        <p:spPr>
          <a:xfrm>
            <a:off x="4714875" y="2682164"/>
            <a:ext cx="28800" cy="671400"/>
          </a:xfrm>
          <a:prstGeom prst="roundRect">
            <a:avLst>
              <a:gd fmla="val 202633" name="adj"/>
            </a:avLst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4850663" y="2873502"/>
            <a:ext cx="285900" cy="285900"/>
          </a:xfrm>
          <a:prstGeom prst="ellipse">
            <a:avLst/>
          </a:prstGeom>
          <a:solidFill>
            <a:srgbClr val="EBF8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0" name="Google Shape;620;p24"/>
          <p:cNvPicPr preferRelativeResize="0"/>
          <p:nvPr/>
        </p:nvPicPr>
        <p:blipFill rotWithShape="1">
          <a:blip r:embed="rId11">
            <a:alphaModFix/>
          </a:blip>
          <a:srcRect b="0" l="-1062" r="-1062" t="0"/>
          <a:stretch/>
        </p:blipFill>
        <p:spPr>
          <a:xfrm>
            <a:off x="4911014" y="2952369"/>
            <a:ext cx="164592" cy="12893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4"/>
          <p:cNvSpPr txBox="1"/>
          <p:nvPr/>
        </p:nvSpPr>
        <p:spPr>
          <a:xfrm>
            <a:off x="5243627" y="2789834"/>
            <a:ext cx="3451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HW#5: Storyboard Strategic Framework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 txBox="1"/>
          <p:nvPr/>
        </p:nvSpPr>
        <p:spPr>
          <a:xfrm>
            <a:off x="5243627" y="2964713"/>
            <a:ext cx="34224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Lora"/>
              <a:buNone/>
            </a:pPr>
            <a:r>
              <a:rPr b="0" i="1" lang="en" sz="700" u="none" cap="none" strike="noStrike">
                <a:solidFill>
                  <a:srgbClr val="718096"/>
                </a:solidFill>
                <a:latin typeface="Lora"/>
                <a:ea typeface="Lora"/>
                <a:cs typeface="Lora"/>
                <a:sym typeface="Lora"/>
              </a:rPr>
              <a:t>Storyline development, "Temperature Trigger" concept, and operational pain point mapping.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4"/>
          <p:cNvSpPr/>
          <p:nvPr/>
        </p:nvSpPr>
        <p:spPr>
          <a:xfrm>
            <a:off x="4714875" y="3457804"/>
            <a:ext cx="4000200" cy="528900"/>
          </a:xfrm>
          <a:prstGeom prst="roundRect">
            <a:avLst>
              <a:gd fmla="val 1402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16200000" dist="19050">
              <a:srgbClr val="000000">
                <a:alpha val="31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4714875" y="3457804"/>
            <a:ext cx="28800" cy="528900"/>
          </a:xfrm>
          <a:prstGeom prst="roundRect">
            <a:avLst>
              <a:gd fmla="val 257399" name="adj"/>
            </a:avLst>
          </a:prstGeom>
          <a:solidFill>
            <a:srgbClr val="00AEEF"/>
          </a:solidFill>
          <a:ln cap="flat" cmpd="sng" w="9525">
            <a:solidFill>
              <a:srgbClr val="00AE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4850663" y="3579191"/>
            <a:ext cx="285900" cy="285900"/>
          </a:xfrm>
          <a:prstGeom prst="ellipse">
            <a:avLst/>
          </a:prstGeom>
          <a:solidFill>
            <a:srgbClr val="EBF8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6" name="Google Shape;626;p24"/>
          <p:cNvPicPr preferRelativeResize="0"/>
          <p:nvPr/>
        </p:nvPicPr>
        <p:blipFill rotWithShape="1">
          <a:blip r:embed="rId12">
            <a:alphaModFix/>
          </a:blip>
          <a:srcRect b="0" l="-1062" r="-1062" t="0"/>
          <a:stretch/>
        </p:blipFill>
        <p:spPr>
          <a:xfrm>
            <a:off x="4911014" y="3657371"/>
            <a:ext cx="164592" cy="12893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4"/>
          <p:cNvSpPr txBox="1"/>
          <p:nvPr/>
        </p:nvSpPr>
        <p:spPr>
          <a:xfrm>
            <a:off x="5243627" y="3564788"/>
            <a:ext cx="3451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800"/>
              <a:buFont typeface="Montserrat"/>
              <a:buNone/>
            </a:pPr>
            <a:r>
              <a:rPr b="1" i="0" lang="en" sz="800" u="none" cap="none" strike="noStrike">
                <a:solidFill>
                  <a:srgbClr val="2D3748"/>
                </a:solidFill>
                <a:latin typeface="Montserrat"/>
                <a:ea typeface="Montserrat"/>
                <a:cs typeface="Montserrat"/>
                <a:sym typeface="Montserrat"/>
              </a:rPr>
              <a:t>HW#4: Target Persona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 txBox="1"/>
          <p:nvPr/>
        </p:nvSpPr>
        <p:spPr>
          <a:xfrm>
            <a:off x="5243627" y="3739667"/>
            <a:ext cx="3879600" cy="1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00"/>
              <a:buFont typeface="Lora"/>
              <a:buNone/>
            </a:pPr>
            <a:r>
              <a:rPr b="0" i="1" lang="en" sz="700" u="none" cap="none" strike="noStrike">
                <a:solidFill>
                  <a:srgbClr val="718096"/>
                </a:solidFill>
                <a:latin typeface="Lora"/>
                <a:ea typeface="Lora"/>
                <a:cs typeface="Lora"/>
                <a:sym typeface="Lora"/>
              </a:rPr>
              <a:t>Stakeholder identification (Front Line Ops Manager) and user segmentation.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0" y="4472102"/>
            <a:ext cx="9143700" cy="671400"/>
          </a:xfrm>
          <a:prstGeom prst="rect">
            <a:avLst/>
          </a:prstGeom>
          <a:solidFill>
            <a:srgbClr val="2D3748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4"/>
          <p:cNvSpPr txBox="1"/>
          <p:nvPr/>
        </p:nvSpPr>
        <p:spPr>
          <a:xfrm>
            <a:off x="428625" y="4632579"/>
            <a:ext cx="35868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Group #3 — Data Divas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4"/>
          <p:cNvSpPr txBox="1"/>
          <p:nvPr/>
        </p:nvSpPr>
        <p:spPr>
          <a:xfrm>
            <a:off x="428625" y="4854092"/>
            <a:ext cx="40155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CBD5E0"/>
                </a:solidFill>
                <a:latin typeface="Montserrat"/>
                <a:ea typeface="Montserrat"/>
                <a:cs typeface="Montserrat"/>
                <a:sym typeface="Montserrat"/>
              </a:rPr>
              <a:t>Molly Meyers • Isaiah Pihlstrom • Dario Garcia • Sidney Dobbins • Terry Qi • Yang Hu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4"/>
          <p:cNvSpPr txBox="1"/>
          <p:nvPr/>
        </p:nvSpPr>
        <p:spPr>
          <a:xfrm>
            <a:off x="7558202" y="4614749"/>
            <a:ext cx="115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EEF"/>
              </a:buClr>
              <a:buSzPts val="1400"/>
              <a:buFont typeface="Montserrat"/>
              <a:buNone/>
            </a:pPr>
            <a:r>
              <a:rPr b="1" i="0" lang="en" sz="1400" u="none" cap="none" strike="noStrike">
                <a:solidFill>
                  <a:srgbClr val="00AEEF"/>
                </a:solidFill>
                <a:latin typeface="Montserrat"/>
                <a:ea typeface="Montserrat"/>
                <a:cs typeface="Montserrat"/>
                <a:sym typeface="Montserrat"/>
              </a:rPr>
              <a:t>TO 550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4"/>
          <p:cNvSpPr txBox="1"/>
          <p:nvPr/>
        </p:nvSpPr>
        <p:spPr>
          <a:xfrm>
            <a:off x="7558202" y="4871924"/>
            <a:ext cx="11577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0"/>
              </a:buClr>
              <a:buSzPts val="700"/>
              <a:buFont typeface="Montserrat"/>
              <a:buNone/>
            </a:pPr>
            <a:r>
              <a:rPr lang="en" sz="700">
                <a:solidFill>
                  <a:srgbClr val="CBD5E0"/>
                </a:solidFill>
                <a:latin typeface="Montserrat"/>
                <a:ea typeface="Montserrat"/>
                <a:cs typeface="Montserrat"/>
                <a:sym typeface="Montserrat"/>
              </a:rPr>
              <a:t>Storytelling &amp; Data Visualization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